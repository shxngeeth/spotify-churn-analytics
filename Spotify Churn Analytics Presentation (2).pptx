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DM Sans" pitchFamily="2"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1" d="100"/>
          <a:sy n="131" d="100"/>
        </p:scale>
        <p:origin x="101" y="2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80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Introduce the case: a hypothetical Spotify-style subscription business. State that all data is synthetic. Preview the five parts: problem, data solution, analysis, recommendations, ethics. Total time budget is 15 minutes, about 1 to 1.5 minutes per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1: explain the challenge, the aim, and why it matters to the organisation. Three pains on the left lead to one objective on the right. Say how success is measured: a churn rate by plan and market, the behaviours that signal risk, and one data layer finance and marketing both trust.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2. Show the star schema: one fact table of streams surrounded by user, track, date and artist dimensions. Justify relational (Azure SQL as source, Delta tables in the lake) over NoSQL: the data is structured and analysed with joins. Explain SCD Type 2 on dimuser using __START_AT and __END_AT, so history is never overwritten. Mention normalisation: dimensions hold each attribute once. Point to the schema and SQL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3. Walk left to right: Azure SQL is the source, Azure Data Factory copies only new rows using a watermark (cdc.json), raw files land in the bronze layer of Azure Data Lake Storage, Databricks Autoloader cleans them into silver, and gold holds the business-ready star schema. The ML model and charts read from gold. Note honestly that I ran Autoloader in batch mode (availableNow trigger); it is streaming-ready.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Criterion 3 continued: justify each tool against enterprise requirements (scalability, flexibility, availability, real-time). Be honest about trade-offs: serverless Databricks has limits, and I could not complete a Delta Live Tables pipeline because of a metastore configuration, so SCD2 was built with Delta MERGE instead. Mention the lakehouse trend as the current direction in big data. Add one real academic or industry source in the report for this claim.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4. Explain the three steps. Stress that the label comes from future behaviour and the features from past behaviour, so the model predicts rather than repeats the label. There were no cancellation dates in the data, so inactivity is a proxy for churn; say so. Justify logistic regression over complex models: explainability to non-technical managers. Mention class_weight=balanced and why accuracy alone is misleading.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4 continued. Replace the bracketed placeholders with your own numbers from the notebook output (test AUC, cross-validation mean and spread, recall for class 1) and paste the coefficient chart over the dashed box. Interpret in plain words: an AUC near 0.5 means the features carry little signal, which is a legitimate finding on synthetic data. Mention the majority-class baseline you printed.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5. Paste the two section 4 charts over the dashed boxes: churn rate by plan and top 10 markets by total listening time (confirm the units first). One sentence of insight under each, written from your own output. Justify the visual choices: bar charts because the comparison is between categories and executives read them fastest; a single message per chart; no decoration. Retained versus churned engagement and the monthly trend chart can go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6. Each recommendation must link back to the objective (reduce churn, focus on high-value markets) and to evidence from your charts. Fill the bracketed values from your own results. Do not claim a financial saving unless you have calculated one; if you estimate one, state the assumptions.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Criterion 7. Cover privacy and data protection (UK GDPR principles: lawfulness, purpose limitation, data minimisation, storage limitation, security), ethics (fairness, transparency, avoiding automated decisions that harm customers), and professional responsibility. Say that this project used synthetic data, so no real personal data was processed, and explain what you would do with real data (a data protection impact assessment, retention limits). Cite the ICO guidance or the legislation itself in the report, only after opening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Close with the answer to the objective, then limitations stated plainly (this is critical evaluation and earns credit), then next steps. End by inviting questions. Keep the last 30 seconds spare for time management.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0201C"/>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14"/>
            <a:ext cx="10566400" cy="4480586"/>
          </a:xfrm>
          <a:prstGeom prst="rect">
            <a:avLst/>
          </a:prstGeom>
          <a:noFill/>
          <a:ln/>
        </p:spPr>
        <p:txBody>
          <a:bodyPr wrap="square" lIns="0" tIns="0" rIns="0" bIns="0" rtlCol="0" anchor="t"/>
          <a:lstStyle>
            <a:lvl1pPr marL="0" indent="0" algn="l">
              <a:lnSpc>
                <a:spcPct val="140000"/>
              </a:lnSpc>
              <a:buNone/>
              <a:defRPr lang="en-US" sz="1600" dirty="0">
                <a:solidFill>
                  <a:srgbClr val="10201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0201C"/>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14"/>
            <a:ext cx="10566400" cy="4480586"/>
          </a:xfrm>
          <a:prstGeom prst="rect">
            <a:avLst/>
          </a:prstGeom>
          <a:noFill/>
          <a:ln/>
        </p:spPr>
        <p:txBody>
          <a:bodyPr wrap="square" lIns="0" tIns="0" rIns="0" bIns="0" rtlCol="0" anchor="t"/>
          <a:lstStyle>
            <a:lvl1pPr marL="0" indent="0" algn="l">
              <a:lnSpc>
                <a:spcPct val="140000"/>
              </a:lnSpc>
              <a:buNone/>
              <a:defRPr lang="en-US" sz="1600" dirty="0">
                <a:solidFill>
                  <a:srgbClr val="10201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85"/>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FBF8F"/>
                </a:solidFill>
                <a:latin typeface="DM Sans" pitchFamily="34" charset="0"/>
                <a:ea typeface="DM Sans" pitchFamily="34" charset="-122"/>
                <a:cs typeface="DM Sans" pitchFamily="34" charset="-120"/>
              </a:rPr>
              <a:t>BIG DATA ANALYTICS · MANAGEMENT BRIEFING</a:t>
            </a:r>
            <a:endParaRPr lang="en-US" sz="1400" dirty="0"/>
          </a:p>
        </p:txBody>
      </p:sp>
      <p:sp>
        <p:nvSpPr>
          <p:cNvPr id="3" name="Text 1"/>
          <p:cNvSpPr>
            <a:spLocks noGrp="1"/>
          </p:cNvSpPr>
          <p:nvPr>
            <p:ph type="title"/>
          </p:nvPr>
        </p:nvSpPr>
        <p:spPr>
          <a:xfrm>
            <a:off x="812800" y="2367315"/>
            <a:ext cx="10883392" cy="1412169"/>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4F5EF"/>
                </a:solidFill>
                <a:latin typeface="DM Sans" pitchFamily="34" charset="0"/>
                <a:ea typeface="DM Sans" pitchFamily="34" charset="-122"/>
                <a:cs typeface="DM Sans" pitchFamily="34" charset="-120"/>
              </a:rPr>
              <a:t>Keeping subscribers, growing the right markets</a:t>
            </a:r>
            <a:endParaRPr lang="en-US" sz="5200" dirty="0"/>
          </a:p>
        </p:txBody>
      </p:sp>
      <p:sp>
        <p:nvSpPr>
          <p:cNvPr id="4" name="Text 2"/>
          <p:cNvSpPr/>
          <p:nvPr/>
        </p:nvSpPr>
        <p:spPr>
          <a:xfrm>
            <a:off x="812800" y="3957285"/>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5D6CF"/>
                </a:solidFill>
                <a:latin typeface="DM Sans" pitchFamily="34" charset="0"/>
                <a:ea typeface="DM Sans" pitchFamily="34" charset="-122"/>
                <a:cs typeface="DM Sans" pitchFamily="34" charset="-120"/>
              </a:rPr>
              <a:t>A trusted data platform and churn model for a streaming subscription business</a:t>
            </a:r>
            <a:endParaRPr lang="en-US" sz="2000" dirty="0"/>
          </a:p>
        </p:txBody>
      </p:sp>
      <p:sp>
        <p:nvSpPr>
          <p:cNvPr id="5" name="Text 3"/>
          <p:cNvSpPr/>
          <p:nvPr/>
        </p:nvSpPr>
        <p:spPr>
          <a:xfrm>
            <a:off x="812800" y="5593115"/>
            <a:ext cx="10883392"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D6CF"/>
                </a:solidFill>
                <a:latin typeface="DM Sans" pitchFamily="34" charset="0"/>
                <a:ea typeface="DM Sans" pitchFamily="34" charset="-122"/>
                <a:cs typeface="DM Sans" pitchFamily="34" charset="-120"/>
              </a:rPr>
              <a:t>SHANGEETH VANNIYASINGAM 15139531 · 604-IT · Hypothetical case study built on Spotify-style synthetic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The business problem and objective</a:t>
            </a:r>
            <a:endParaRPr lang="en-US" sz="3200" dirty="0"/>
          </a:p>
        </p:txBody>
      </p:sp>
      <p:sp>
        <p:nvSpPr>
          <p:cNvPr id="3" name="Shape 1"/>
          <p:cNvSpPr/>
          <p:nvPr/>
        </p:nvSpPr>
        <p:spPr>
          <a:xfrm>
            <a:off x="815975" y="1567789"/>
            <a:ext cx="5477845" cy="1003124"/>
          </a:xfrm>
          <a:prstGeom prst="roundRect">
            <a:avLst>
              <a:gd name="adj" fmla="val 9812"/>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21644" y="1773458"/>
            <a:ext cx="5218501"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Churn is unexplained</a:t>
            </a:r>
            <a:endParaRPr lang="en-US" sz="1800" dirty="0"/>
          </a:p>
        </p:txBody>
      </p:sp>
      <p:sp>
        <p:nvSpPr>
          <p:cNvPr id="5" name="Text 3"/>
          <p:cNvSpPr/>
          <p:nvPr/>
        </p:nvSpPr>
        <p:spPr>
          <a:xfrm>
            <a:off x="1021644" y="2098542"/>
            <a:ext cx="521850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5"/>
                </a:solidFill>
                <a:latin typeface="DM Sans" pitchFamily="34" charset="0"/>
                <a:ea typeface="DM Sans" pitchFamily="34" charset="-122"/>
                <a:cs typeface="DM Sans" pitchFamily="34" charset="-120"/>
              </a:rPr>
              <a:t>Management cannot see why subscribers cancel.</a:t>
            </a:r>
            <a:endParaRPr lang="en-US" sz="1500" dirty="0"/>
          </a:p>
        </p:txBody>
      </p:sp>
      <p:sp>
        <p:nvSpPr>
          <p:cNvPr id="6" name="Shape 4"/>
          <p:cNvSpPr/>
          <p:nvPr/>
        </p:nvSpPr>
        <p:spPr>
          <a:xfrm>
            <a:off x="815975" y="2729662"/>
            <a:ext cx="5477845" cy="1269824"/>
          </a:xfrm>
          <a:prstGeom prst="roundRect">
            <a:avLst>
              <a:gd name="adj" fmla="val 7751"/>
            </a:avLst>
          </a:prstGeom>
          <a:solidFill>
            <a:srgbClr val="FBFCF8"/>
          </a:solidFill>
          <a:ln w="6350">
            <a:solidFill>
              <a:srgbClr val="DCE2DA"/>
            </a:solidFill>
            <a:prstDash val="solid"/>
          </a:ln>
        </p:spPr>
        <p:txBody>
          <a:bodyPr/>
          <a:lstStyle/>
          <a:p>
            <a:endParaRPr lang="en-GB"/>
          </a:p>
        </p:txBody>
      </p:sp>
      <p:sp>
        <p:nvSpPr>
          <p:cNvPr id="7" name="Text 5"/>
          <p:cNvSpPr/>
          <p:nvPr/>
        </p:nvSpPr>
        <p:spPr>
          <a:xfrm>
            <a:off x="1021644" y="2935332"/>
            <a:ext cx="5218501"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Market value is unclear</a:t>
            </a:r>
            <a:endParaRPr lang="en-US" sz="1800" dirty="0"/>
          </a:p>
        </p:txBody>
      </p:sp>
      <p:sp>
        <p:nvSpPr>
          <p:cNvPr id="8" name="Text 6"/>
          <p:cNvSpPr/>
          <p:nvPr/>
        </p:nvSpPr>
        <p:spPr>
          <a:xfrm>
            <a:off x="1021644" y="3260416"/>
            <a:ext cx="521850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5"/>
                </a:solidFill>
                <a:latin typeface="DM Sans" pitchFamily="34" charset="0"/>
                <a:ea typeface="DM Sans" pitchFamily="34" charset="-122"/>
                <a:cs typeface="DM Sans" pitchFamily="34" charset="-120"/>
              </a:rPr>
              <a:t>Marketing spend is not tied to the markets that matter most.</a:t>
            </a:r>
            <a:endParaRPr lang="en-US" sz="1500" dirty="0"/>
          </a:p>
        </p:txBody>
      </p:sp>
      <p:sp>
        <p:nvSpPr>
          <p:cNvPr id="9" name="Shape 7"/>
          <p:cNvSpPr/>
          <p:nvPr/>
        </p:nvSpPr>
        <p:spPr>
          <a:xfrm>
            <a:off x="815975" y="4158236"/>
            <a:ext cx="5477845" cy="1269824"/>
          </a:xfrm>
          <a:prstGeom prst="roundRect">
            <a:avLst>
              <a:gd name="adj" fmla="val 7751"/>
            </a:avLst>
          </a:prstGeom>
          <a:solidFill>
            <a:srgbClr val="FBFCF8"/>
          </a:solidFill>
          <a:ln w="6350">
            <a:solidFill>
              <a:srgbClr val="DCE2DA"/>
            </a:solidFill>
            <a:prstDash val="solid"/>
          </a:ln>
        </p:spPr>
        <p:txBody>
          <a:bodyPr/>
          <a:lstStyle/>
          <a:p>
            <a:endParaRPr lang="en-GB"/>
          </a:p>
        </p:txBody>
      </p:sp>
      <p:sp>
        <p:nvSpPr>
          <p:cNvPr id="10" name="Text 8"/>
          <p:cNvSpPr/>
          <p:nvPr/>
        </p:nvSpPr>
        <p:spPr>
          <a:xfrm>
            <a:off x="1021644" y="4363905"/>
            <a:ext cx="5218501"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Data is scattered</a:t>
            </a:r>
            <a:endParaRPr lang="en-US" sz="1800" dirty="0"/>
          </a:p>
        </p:txBody>
      </p:sp>
      <p:sp>
        <p:nvSpPr>
          <p:cNvPr id="11" name="Text 9"/>
          <p:cNvSpPr/>
          <p:nvPr/>
        </p:nvSpPr>
        <p:spPr>
          <a:xfrm>
            <a:off x="1021644" y="4688990"/>
            <a:ext cx="521850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5"/>
                </a:solidFill>
                <a:latin typeface="DM Sans" pitchFamily="34" charset="0"/>
                <a:ea typeface="DM Sans" pitchFamily="34" charset="-122"/>
                <a:cs typeface="DM Sans" pitchFamily="34" charset="-120"/>
              </a:rPr>
              <a:t>Several sources, manual reports, no trusted history when plans change.</a:t>
            </a:r>
            <a:endParaRPr lang="en-US" sz="1500" dirty="0"/>
          </a:p>
        </p:txBody>
      </p:sp>
      <p:sp>
        <p:nvSpPr>
          <p:cNvPr id="12" name="Shape 10"/>
          <p:cNvSpPr/>
          <p:nvPr/>
        </p:nvSpPr>
        <p:spPr>
          <a:xfrm>
            <a:off x="6550995" y="1564614"/>
            <a:ext cx="4828205" cy="3866621"/>
          </a:xfrm>
          <a:prstGeom prst="roundRect">
            <a:avLst>
              <a:gd name="adj" fmla="val 2628"/>
            </a:avLst>
          </a:prstGeom>
          <a:solidFill>
            <a:srgbClr val="10201C"/>
          </a:solidFill>
          <a:ln/>
        </p:spPr>
        <p:txBody>
          <a:bodyPr/>
          <a:lstStyle/>
          <a:p>
            <a:endParaRPr lang="en-GB"/>
          </a:p>
        </p:txBody>
      </p:sp>
      <p:sp>
        <p:nvSpPr>
          <p:cNvPr id="13" name="Text 11"/>
          <p:cNvSpPr/>
          <p:nvPr/>
        </p:nvSpPr>
        <p:spPr>
          <a:xfrm>
            <a:off x="6855795" y="1869414"/>
            <a:ext cx="4345163"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OBJECTIVE</a:t>
            </a:r>
            <a:endParaRPr lang="en-US" sz="1300" dirty="0"/>
          </a:p>
        </p:txBody>
      </p:sp>
      <p:sp>
        <p:nvSpPr>
          <p:cNvPr id="14" name="Text 12"/>
          <p:cNvSpPr/>
          <p:nvPr/>
        </p:nvSpPr>
        <p:spPr>
          <a:xfrm>
            <a:off x="6855795" y="2252927"/>
            <a:ext cx="4345163" cy="1031214"/>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5EF"/>
                </a:solidFill>
                <a:latin typeface="DM Sans" pitchFamily="34" charset="0"/>
                <a:ea typeface="DM Sans" pitchFamily="34" charset="-122"/>
                <a:cs typeface="DM Sans" pitchFamily="34" charset="-120"/>
              </a:rPr>
              <a:t>Reduce churn and focus spend on the highest-value markets</a:t>
            </a:r>
            <a:endParaRPr lang="en-US" sz="2200" dirty="0"/>
          </a:p>
        </p:txBody>
      </p:sp>
      <p:sp>
        <p:nvSpPr>
          <p:cNvPr id="15" name="Text 13"/>
          <p:cNvSpPr/>
          <p:nvPr/>
        </p:nvSpPr>
        <p:spPr>
          <a:xfrm>
            <a:off x="6855795" y="3411141"/>
            <a:ext cx="434516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5D6CF"/>
                </a:solidFill>
                <a:latin typeface="DM Sans" pitchFamily="34" charset="0"/>
                <a:ea typeface="DM Sans" pitchFamily="34" charset="-122"/>
                <a:cs typeface="DM Sans" pitchFamily="34" charset="-120"/>
              </a:rPr>
              <a:t>Using one trusted, repeatable analytics platform.</a:t>
            </a:r>
            <a:endParaRPr lang="en-US" sz="1500" dirty="0"/>
          </a:p>
        </p:txBody>
      </p:sp>
      <p:sp>
        <p:nvSpPr>
          <p:cNvPr id="16" name="Text 14"/>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7" name="Text 15"/>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Database design: a star schema</a:t>
            </a:r>
            <a:endParaRPr lang="en-US" sz="3200" dirty="0"/>
          </a:p>
        </p:txBody>
      </p:sp>
      <p:sp>
        <p:nvSpPr>
          <p:cNvPr id="3" name="Shape 1"/>
          <p:cNvSpPr/>
          <p:nvPr/>
        </p:nvSpPr>
        <p:spPr>
          <a:xfrm>
            <a:off x="815975" y="15169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4" name="Text 2"/>
          <p:cNvSpPr/>
          <p:nvPr/>
        </p:nvSpPr>
        <p:spPr>
          <a:xfrm>
            <a:off x="996244" y="16972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dimuser</a:t>
            </a:r>
            <a:endParaRPr lang="en-US" sz="1700" dirty="0"/>
          </a:p>
        </p:txBody>
      </p:sp>
      <p:sp>
        <p:nvSpPr>
          <p:cNvPr id="5" name="Text 3"/>
          <p:cNvSpPr/>
          <p:nvPr/>
        </p:nvSpPr>
        <p:spPr>
          <a:xfrm>
            <a:off x="996244" y="20071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plan, country, history (SCD2)</a:t>
            </a:r>
            <a:endParaRPr lang="en-US" sz="1300" dirty="0"/>
          </a:p>
        </p:txBody>
      </p:sp>
      <p:sp>
        <p:nvSpPr>
          <p:cNvPr id="6" name="Shape 4"/>
          <p:cNvSpPr/>
          <p:nvPr/>
        </p:nvSpPr>
        <p:spPr>
          <a:xfrm>
            <a:off x="4171950" y="1513813"/>
            <a:ext cx="3848100" cy="2692400"/>
          </a:xfrm>
          <a:prstGeom prst="roundRect">
            <a:avLst>
              <a:gd name="adj" fmla="val 3774"/>
            </a:avLst>
          </a:prstGeom>
          <a:solidFill>
            <a:srgbClr val="10201C"/>
          </a:solidFill>
          <a:ln/>
        </p:spPr>
        <p:txBody>
          <a:bodyPr/>
          <a:lstStyle/>
          <a:p>
            <a:endParaRPr lang="en-GB"/>
          </a:p>
        </p:txBody>
      </p:sp>
      <p:sp>
        <p:nvSpPr>
          <p:cNvPr id="7" name="Text 5"/>
          <p:cNvSpPr/>
          <p:nvPr/>
        </p:nvSpPr>
        <p:spPr>
          <a:xfrm>
            <a:off x="4400550" y="2260600"/>
            <a:ext cx="3492627" cy="238742"/>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BF8F"/>
                </a:solidFill>
                <a:latin typeface="DM Sans" pitchFamily="34" charset="0"/>
                <a:ea typeface="DM Sans" pitchFamily="34" charset="-122"/>
                <a:cs typeface="DM Sans" pitchFamily="34" charset="-120"/>
              </a:rPr>
              <a:t>FACT TABLE</a:t>
            </a:r>
            <a:endParaRPr lang="en-US" sz="1200" dirty="0"/>
          </a:p>
        </p:txBody>
      </p:sp>
      <p:sp>
        <p:nvSpPr>
          <p:cNvPr id="8" name="Text 6"/>
          <p:cNvSpPr/>
          <p:nvPr/>
        </p:nvSpPr>
        <p:spPr>
          <a:xfrm>
            <a:off x="4400550" y="2550142"/>
            <a:ext cx="3492627" cy="360671"/>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5EF"/>
                </a:solidFill>
                <a:latin typeface="DM Sans" pitchFamily="34" charset="0"/>
                <a:ea typeface="DM Sans" pitchFamily="34" charset="-122"/>
                <a:cs typeface="DM Sans" pitchFamily="34" charset="-120"/>
              </a:rPr>
              <a:t>factstream</a:t>
            </a:r>
            <a:endParaRPr lang="en-US" sz="2200" dirty="0"/>
          </a:p>
        </p:txBody>
      </p:sp>
      <p:sp>
        <p:nvSpPr>
          <p:cNvPr id="9" name="Text 7"/>
          <p:cNvSpPr/>
          <p:nvPr/>
        </p:nvSpPr>
        <p:spPr>
          <a:xfrm>
            <a:off x="4400550" y="2961613"/>
            <a:ext cx="3492627" cy="52316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D6CF"/>
                </a:solidFill>
                <a:latin typeface="DM Sans" pitchFamily="34" charset="0"/>
                <a:ea typeface="DM Sans" pitchFamily="34" charset="-122"/>
                <a:cs typeface="DM Sans" pitchFamily="34" charset="-120"/>
              </a:rPr>
              <a:t>one row per stream: user, track, date, listen duration</a:t>
            </a:r>
            <a:endParaRPr lang="en-US" sz="1400" dirty="0"/>
          </a:p>
        </p:txBody>
      </p:sp>
      <p:sp>
        <p:nvSpPr>
          <p:cNvPr id="10" name="Shape 8"/>
          <p:cNvSpPr/>
          <p:nvPr/>
        </p:nvSpPr>
        <p:spPr>
          <a:xfrm>
            <a:off x="8175625" y="15169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11" name="Text 9"/>
          <p:cNvSpPr/>
          <p:nvPr/>
        </p:nvSpPr>
        <p:spPr>
          <a:xfrm>
            <a:off x="8355895" y="16972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dimtrack</a:t>
            </a:r>
            <a:endParaRPr lang="en-US" sz="1700" dirty="0"/>
          </a:p>
        </p:txBody>
      </p:sp>
      <p:sp>
        <p:nvSpPr>
          <p:cNvPr id="12" name="Text 10"/>
          <p:cNvSpPr/>
          <p:nvPr/>
        </p:nvSpPr>
        <p:spPr>
          <a:xfrm>
            <a:off x="8355895" y="20071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track name, artist link</a:t>
            </a:r>
            <a:endParaRPr lang="en-US" sz="1300" dirty="0"/>
          </a:p>
        </p:txBody>
      </p:sp>
      <p:sp>
        <p:nvSpPr>
          <p:cNvPr id="13" name="Shape 11"/>
          <p:cNvSpPr/>
          <p:nvPr/>
        </p:nvSpPr>
        <p:spPr>
          <a:xfrm>
            <a:off x="815975" y="29393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14" name="Text 12"/>
          <p:cNvSpPr/>
          <p:nvPr/>
        </p:nvSpPr>
        <p:spPr>
          <a:xfrm>
            <a:off x="996244" y="31196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dimdate</a:t>
            </a:r>
            <a:endParaRPr lang="en-US" sz="1700" dirty="0"/>
          </a:p>
        </p:txBody>
      </p:sp>
      <p:sp>
        <p:nvSpPr>
          <p:cNvPr id="15" name="Text 13"/>
          <p:cNvSpPr/>
          <p:nvPr/>
        </p:nvSpPr>
        <p:spPr>
          <a:xfrm>
            <a:off x="996244" y="34295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calendar attributes</a:t>
            </a:r>
            <a:endParaRPr lang="en-US" sz="1300" dirty="0"/>
          </a:p>
        </p:txBody>
      </p:sp>
      <p:sp>
        <p:nvSpPr>
          <p:cNvPr id="16" name="Shape 14"/>
          <p:cNvSpPr/>
          <p:nvPr/>
        </p:nvSpPr>
        <p:spPr>
          <a:xfrm>
            <a:off x="8175625" y="29393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17" name="Text 15"/>
          <p:cNvSpPr/>
          <p:nvPr/>
        </p:nvSpPr>
        <p:spPr>
          <a:xfrm>
            <a:off x="8355895" y="31196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dimartist</a:t>
            </a:r>
            <a:endParaRPr lang="en-US" sz="1700" dirty="0"/>
          </a:p>
        </p:txBody>
      </p:sp>
      <p:sp>
        <p:nvSpPr>
          <p:cNvPr id="18" name="Text 16"/>
          <p:cNvSpPr/>
          <p:nvPr/>
        </p:nvSpPr>
        <p:spPr>
          <a:xfrm>
            <a:off x="8355895" y="34295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artist details</a:t>
            </a:r>
            <a:endParaRPr lang="en-US" sz="1300" dirty="0"/>
          </a:p>
        </p:txBody>
      </p:sp>
      <p:sp>
        <p:nvSpPr>
          <p:cNvPr id="19" name="Text 17"/>
          <p:cNvSpPr/>
          <p:nvPr/>
        </p:nvSpPr>
        <p:spPr>
          <a:xfrm>
            <a:off x="812800" y="4460213"/>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Why relational:</a:t>
            </a:r>
            <a:r>
              <a:rPr lang="en-US" sz="1500" dirty="0">
                <a:solidFill>
                  <a:srgbClr val="4A5A55"/>
                </a:solidFill>
                <a:latin typeface="DM Sans" pitchFamily="34" charset="0"/>
                <a:ea typeface="DM Sans" pitchFamily="34" charset="-122"/>
                <a:cs typeface="DM Sans" pitchFamily="34" charset="-120"/>
              </a:rPr>
              <a:t> structured, joined data suits SQL and BI. </a:t>
            </a:r>
            <a:r>
              <a:rPr lang="en-US" sz="1500" b="1" dirty="0">
                <a:solidFill>
                  <a:srgbClr val="10201C"/>
                </a:solidFill>
                <a:latin typeface="DM Sans" pitchFamily="34" charset="0"/>
                <a:ea typeface="DM Sans" pitchFamily="34" charset="-122"/>
                <a:cs typeface="DM Sans" pitchFamily="34" charset="-120"/>
              </a:rPr>
              <a:t>SCD Type 2</a:t>
            </a:r>
            <a:r>
              <a:rPr lang="en-US" sz="1500" dirty="0">
                <a:solidFill>
                  <a:srgbClr val="4A5A55"/>
                </a:solidFill>
                <a:latin typeface="DM Sans" pitchFamily="34" charset="0"/>
                <a:ea typeface="DM Sans" pitchFamily="34" charset="-122"/>
                <a:cs typeface="DM Sans" pitchFamily="34" charset="-120"/>
              </a:rPr>
              <a:t> keeps a row for every plan or country change.</a:t>
            </a:r>
            <a:endParaRPr lang="en-US" sz="1500" dirty="0"/>
          </a:p>
        </p:txBody>
      </p:sp>
      <p:sp>
        <p:nvSpPr>
          <p:cNvPr id="20" name="Text 18"/>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21" name="Text 19"/>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Big data architecture: bronze, silver, gold</a:t>
            </a:r>
            <a:endParaRPr lang="en-US" sz="3200" dirty="0"/>
          </a:p>
        </p:txBody>
      </p:sp>
      <p:sp>
        <p:nvSpPr>
          <p:cNvPr id="3" name="Shape 1"/>
          <p:cNvSpPr/>
          <p:nvPr/>
        </p:nvSpPr>
        <p:spPr>
          <a:xfrm>
            <a:off x="815975" y="1839561"/>
            <a:ext cx="1466850" cy="802481"/>
          </a:xfrm>
          <a:prstGeom prst="roundRect">
            <a:avLst>
              <a:gd name="adj" fmla="val 12265"/>
            </a:avLst>
          </a:prstGeom>
          <a:solidFill>
            <a:srgbClr val="FBFCF8"/>
          </a:solidFill>
          <a:ln w="6350">
            <a:solidFill>
              <a:srgbClr val="DCE2DA"/>
            </a:solidFill>
            <a:prstDash val="solid"/>
          </a:ln>
        </p:spPr>
        <p:txBody>
          <a:bodyPr/>
          <a:lstStyle/>
          <a:p>
            <a:endParaRPr lang="en-GB"/>
          </a:p>
        </p:txBody>
      </p:sp>
      <p:sp>
        <p:nvSpPr>
          <p:cNvPr id="4" name="Text 2"/>
          <p:cNvSpPr/>
          <p:nvPr/>
        </p:nvSpPr>
        <p:spPr>
          <a:xfrm>
            <a:off x="970844" y="1994429"/>
            <a:ext cx="12079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Azure SQL</a:t>
            </a:r>
            <a:endParaRPr lang="en-US" sz="1500" dirty="0"/>
          </a:p>
        </p:txBody>
      </p:sp>
      <p:sp>
        <p:nvSpPr>
          <p:cNvPr id="5" name="Text 3"/>
          <p:cNvSpPr/>
          <p:nvPr/>
        </p:nvSpPr>
        <p:spPr>
          <a:xfrm>
            <a:off x="970844" y="2273829"/>
            <a:ext cx="1207911"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5"/>
                </a:solidFill>
                <a:latin typeface="DM Sans" pitchFamily="34" charset="0"/>
                <a:ea typeface="DM Sans" pitchFamily="34" charset="-122"/>
                <a:cs typeface="DM Sans" pitchFamily="34" charset="-120"/>
              </a:rPr>
              <a:t>source system</a:t>
            </a:r>
            <a:endParaRPr lang="en-US" sz="1200" dirty="0"/>
          </a:p>
        </p:txBody>
      </p:sp>
      <p:pic>
        <p:nvPicPr>
          <p:cNvPr id="6" name="Image 0" descr="arrow-right"/>
          <p:cNvPicPr>
            <a:picLocks noChangeAspect="1"/>
          </p:cNvPicPr>
          <p:nvPr/>
        </p:nvPicPr>
        <p:blipFill>
          <a:blip r:embed="rId3"/>
          <a:srcRect l="-915" r="-915"/>
          <a:stretch/>
        </p:blipFill>
        <p:spPr>
          <a:xfrm>
            <a:off x="2387600" y="2139201"/>
            <a:ext cx="142258" cy="203200"/>
          </a:xfrm>
          <a:prstGeom prst="rect">
            <a:avLst/>
          </a:prstGeom>
        </p:spPr>
      </p:pic>
      <p:sp>
        <p:nvSpPr>
          <p:cNvPr id="7" name="Shape 4"/>
          <p:cNvSpPr/>
          <p:nvPr/>
        </p:nvSpPr>
        <p:spPr>
          <a:xfrm>
            <a:off x="2634633" y="1618588"/>
            <a:ext cx="1466850" cy="1244424"/>
          </a:xfrm>
          <a:prstGeom prst="roundRect">
            <a:avLst>
              <a:gd name="adj" fmla="val 7909"/>
            </a:avLst>
          </a:prstGeom>
          <a:solidFill>
            <a:srgbClr val="FBFCF8"/>
          </a:solidFill>
          <a:ln w="6350">
            <a:solidFill>
              <a:srgbClr val="DCE2DA"/>
            </a:solidFill>
            <a:prstDash val="solid"/>
          </a:ln>
        </p:spPr>
        <p:txBody>
          <a:bodyPr/>
          <a:lstStyle/>
          <a:p>
            <a:endParaRPr lang="en-GB"/>
          </a:p>
        </p:txBody>
      </p:sp>
      <p:sp>
        <p:nvSpPr>
          <p:cNvPr id="8" name="Text 5"/>
          <p:cNvSpPr/>
          <p:nvPr/>
        </p:nvSpPr>
        <p:spPr>
          <a:xfrm>
            <a:off x="2789502" y="1773458"/>
            <a:ext cx="1207911"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Data Factory</a:t>
            </a:r>
            <a:endParaRPr lang="en-US" sz="1500" dirty="0"/>
          </a:p>
        </p:txBody>
      </p:sp>
      <p:sp>
        <p:nvSpPr>
          <p:cNvPr id="9" name="Text 6"/>
          <p:cNvSpPr/>
          <p:nvPr/>
        </p:nvSpPr>
        <p:spPr>
          <a:xfrm>
            <a:off x="2789502" y="2281458"/>
            <a:ext cx="1207911" cy="4520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5"/>
                </a:solidFill>
                <a:latin typeface="DM Sans" pitchFamily="34" charset="0"/>
                <a:ea typeface="DM Sans" pitchFamily="34" charset="-122"/>
                <a:cs typeface="DM Sans" pitchFamily="34" charset="-120"/>
              </a:rPr>
              <a:t>incremental load</a:t>
            </a:r>
            <a:endParaRPr lang="en-US" sz="1200" dirty="0"/>
          </a:p>
        </p:txBody>
      </p:sp>
      <p:pic>
        <p:nvPicPr>
          <p:cNvPr id="10" name="Image 1" descr="arrow-right"/>
          <p:cNvPicPr>
            <a:picLocks noChangeAspect="1"/>
          </p:cNvPicPr>
          <p:nvPr/>
        </p:nvPicPr>
        <p:blipFill>
          <a:blip r:embed="rId3"/>
          <a:srcRect l="-900" r="-900"/>
          <a:stretch/>
        </p:blipFill>
        <p:spPr>
          <a:xfrm>
            <a:off x="4206258" y="2139201"/>
            <a:ext cx="142214" cy="203200"/>
          </a:xfrm>
          <a:prstGeom prst="rect">
            <a:avLst/>
          </a:prstGeom>
        </p:spPr>
      </p:pic>
      <p:sp>
        <p:nvSpPr>
          <p:cNvPr id="11" name="Shape 7"/>
          <p:cNvSpPr/>
          <p:nvPr/>
        </p:nvSpPr>
        <p:spPr>
          <a:xfrm>
            <a:off x="4450071" y="1842029"/>
            <a:ext cx="1473200" cy="797542"/>
          </a:xfrm>
          <a:prstGeom prst="roundRect">
            <a:avLst>
              <a:gd name="adj" fmla="val 12739"/>
            </a:avLst>
          </a:prstGeom>
          <a:solidFill>
            <a:srgbClr val="E9D9C4"/>
          </a:solidFill>
          <a:ln/>
        </p:spPr>
        <p:txBody>
          <a:bodyPr/>
          <a:lstStyle/>
          <a:p>
            <a:endParaRPr lang="en-GB"/>
          </a:p>
        </p:txBody>
      </p:sp>
      <p:sp>
        <p:nvSpPr>
          <p:cNvPr id="12" name="Text 8"/>
          <p:cNvSpPr/>
          <p:nvPr/>
        </p:nvSpPr>
        <p:spPr>
          <a:xfrm>
            <a:off x="4602471" y="1994429"/>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Bronze</a:t>
            </a:r>
            <a:endParaRPr lang="en-US" sz="1500" dirty="0"/>
          </a:p>
        </p:txBody>
      </p:sp>
      <p:sp>
        <p:nvSpPr>
          <p:cNvPr id="13" name="Text 9"/>
          <p:cNvSpPr/>
          <p:nvPr/>
        </p:nvSpPr>
        <p:spPr>
          <a:xfrm>
            <a:off x="4602471" y="2273829"/>
            <a:ext cx="12192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3A22"/>
                </a:solidFill>
                <a:latin typeface="DM Sans" pitchFamily="34" charset="0"/>
                <a:ea typeface="DM Sans" pitchFamily="34" charset="-122"/>
                <a:cs typeface="DM Sans" pitchFamily="34" charset="-120"/>
              </a:rPr>
              <a:t>raw files</a:t>
            </a:r>
            <a:endParaRPr lang="en-US" sz="1200" dirty="0"/>
          </a:p>
        </p:txBody>
      </p:sp>
      <p:pic>
        <p:nvPicPr>
          <p:cNvPr id="14" name="Image 2" descr="arrow-right"/>
          <p:cNvPicPr>
            <a:picLocks noChangeAspect="1"/>
          </p:cNvPicPr>
          <p:nvPr/>
        </p:nvPicPr>
        <p:blipFill>
          <a:blip r:embed="rId3"/>
          <a:srcRect l="-915" r="-915"/>
          <a:stretch/>
        </p:blipFill>
        <p:spPr>
          <a:xfrm>
            <a:off x="6024871" y="2139201"/>
            <a:ext cx="142258" cy="203200"/>
          </a:xfrm>
          <a:prstGeom prst="rect">
            <a:avLst/>
          </a:prstGeom>
        </p:spPr>
      </p:pic>
      <p:sp>
        <p:nvSpPr>
          <p:cNvPr id="15" name="Shape 10"/>
          <p:cNvSpPr/>
          <p:nvPr/>
        </p:nvSpPr>
        <p:spPr>
          <a:xfrm>
            <a:off x="6268729" y="1735358"/>
            <a:ext cx="1473200" cy="1010885"/>
          </a:xfrm>
          <a:prstGeom prst="roundRect">
            <a:avLst>
              <a:gd name="adj" fmla="val 10051"/>
            </a:avLst>
          </a:prstGeom>
          <a:solidFill>
            <a:srgbClr val="D5DCE0"/>
          </a:solidFill>
          <a:ln/>
        </p:spPr>
        <p:txBody>
          <a:bodyPr/>
          <a:lstStyle/>
          <a:p>
            <a:endParaRPr lang="en-GB"/>
          </a:p>
        </p:txBody>
      </p:sp>
      <p:sp>
        <p:nvSpPr>
          <p:cNvPr id="16" name="Text 11"/>
          <p:cNvSpPr/>
          <p:nvPr/>
        </p:nvSpPr>
        <p:spPr>
          <a:xfrm>
            <a:off x="6421129" y="1887758"/>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Silver</a:t>
            </a:r>
            <a:endParaRPr lang="en-US" sz="1500" dirty="0"/>
          </a:p>
        </p:txBody>
      </p:sp>
      <p:sp>
        <p:nvSpPr>
          <p:cNvPr id="17" name="Text 12"/>
          <p:cNvSpPr/>
          <p:nvPr/>
        </p:nvSpPr>
        <p:spPr>
          <a:xfrm>
            <a:off x="6421129" y="2167158"/>
            <a:ext cx="1219200" cy="4520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3A42"/>
                </a:solidFill>
                <a:latin typeface="DM Sans" pitchFamily="34" charset="0"/>
                <a:ea typeface="DM Sans" pitchFamily="34" charset="-122"/>
                <a:cs typeface="DM Sans" pitchFamily="34" charset="-120"/>
              </a:rPr>
              <a:t>cleaned, Autoloader</a:t>
            </a:r>
            <a:endParaRPr lang="en-US" sz="1200" dirty="0"/>
          </a:p>
        </p:txBody>
      </p:sp>
      <p:pic>
        <p:nvPicPr>
          <p:cNvPr id="18" name="Image 3" descr="arrow-right"/>
          <p:cNvPicPr>
            <a:picLocks noChangeAspect="1"/>
          </p:cNvPicPr>
          <p:nvPr/>
        </p:nvPicPr>
        <p:blipFill>
          <a:blip r:embed="rId3"/>
          <a:srcRect l="-900" r="-900"/>
          <a:stretch/>
        </p:blipFill>
        <p:spPr>
          <a:xfrm>
            <a:off x="7843529" y="2139201"/>
            <a:ext cx="142214" cy="203200"/>
          </a:xfrm>
          <a:prstGeom prst="rect">
            <a:avLst/>
          </a:prstGeom>
        </p:spPr>
      </p:pic>
      <p:sp>
        <p:nvSpPr>
          <p:cNvPr id="19" name="Shape 13"/>
          <p:cNvSpPr/>
          <p:nvPr/>
        </p:nvSpPr>
        <p:spPr>
          <a:xfrm>
            <a:off x="8087343" y="1842029"/>
            <a:ext cx="1473200" cy="797542"/>
          </a:xfrm>
          <a:prstGeom prst="roundRect">
            <a:avLst>
              <a:gd name="adj" fmla="val 12739"/>
            </a:avLst>
          </a:prstGeom>
          <a:solidFill>
            <a:srgbClr val="2FBF8F"/>
          </a:solidFill>
          <a:ln/>
        </p:spPr>
        <p:txBody>
          <a:bodyPr/>
          <a:lstStyle/>
          <a:p>
            <a:endParaRPr lang="en-GB"/>
          </a:p>
        </p:txBody>
      </p:sp>
      <p:sp>
        <p:nvSpPr>
          <p:cNvPr id="20" name="Text 14"/>
          <p:cNvSpPr/>
          <p:nvPr/>
        </p:nvSpPr>
        <p:spPr>
          <a:xfrm>
            <a:off x="8239743" y="1994429"/>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Gold</a:t>
            </a:r>
            <a:endParaRPr lang="en-US" sz="1500" dirty="0"/>
          </a:p>
        </p:txBody>
      </p:sp>
      <p:sp>
        <p:nvSpPr>
          <p:cNvPr id="21" name="Text 15"/>
          <p:cNvSpPr/>
          <p:nvPr/>
        </p:nvSpPr>
        <p:spPr>
          <a:xfrm>
            <a:off x="8239743" y="2273829"/>
            <a:ext cx="12192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1C"/>
                </a:solidFill>
                <a:latin typeface="DM Sans" pitchFamily="34" charset="0"/>
                <a:ea typeface="DM Sans" pitchFamily="34" charset="-122"/>
                <a:cs typeface="DM Sans" pitchFamily="34" charset="-120"/>
              </a:rPr>
              <a:t>star schema</a:t>
            </a:r>
            <a:endParaRPr lang="en-US" sz="1200" dirty="0"/>
          </a:p>
        </p:txBody>
      </p:sp>
      <p:pic>
        <p:nvPicPr>
          <p:cNvPr id="22" name="Image 4" descr="arrow-right"/>
          <p:cNvPicPr>
            <a:picLocks noChangeAspect="1"/>
          </p:cNvPicPr>
          <p:nvPr/>
        </p:nvPicPr>
        <p:blipFill>
          <a:blip r:embed="rId3"/>
          <a:srcRect l="-915" r="-915"/>
          <a:stretch/>
        </p:blipFill>
        <p:spPr>
          <a:xfrm>
            <a:off x="9662143" y="2139201"/>
            <a:ext cx="142258" cy="203200"/>
          </a:xfrm>
          <a:prstGeom prst="rect">
            <a:avLst/>
          </a:prstGeom>
        </p:spPr>
      </p:pic>
      <p:sp>
        <p:nvSpPr>
          <p:cNvPr id="23" name="Shape 16"/>
          <p:cNvSpPr/>
          <p:nvPr/>
        </p:nvSpPr>
        <p:spPr>
          <a:xfrm>
            <a:off x="9906000" y="1842029"/>
            <a:ext cx="1473200" cy="797542"/>
          </a:xfrm>
          <a:prstGeom prst="roundRect">
            <a:avLst>
              <a:gd name="adj" fmla="val 12739"/>
            </a:avLst>
          </a:prstGeom>
          <a:solidFill>
            <a:srgbClr val="10201C"/>
          </a:solidFill>
          <a:ln/>
        </p:spPr>
        <p:txBody>
          <a:bodyPr/>
          <a:lstStyle/>
          <a:p>
            <a:endParaRPr lang="en-GB"/>
          </a:p>
        </p:txBody>
      </p:sp>
      <p:sp>
        <p:nvSpPr>
          <p:cNvPr id="24" name="Text 17"/>
          <p:cNvSpPr/>
          <p:nvPr/>
        </p:nvSpPr>
        <p:spPr>
          <a:xfrm>
            <a:off x="10058400" y="1994429"/>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5EF"/>
                </a:solidFill>
                <a:latin typeface="DM Sans" pitchFamily="34" charset="0"/>
                <a:ea typeface="DM Sans" pitchFamily="34" charset="-122"/>
                <a:cs typeface="DM Sans" pitchFamily="34" charset="-120"/>
              </a:rPr>
              <a:t>ML + charts</a:t>
            </a:r>
            <a:endParaRPr lang="en-US" sz="1500" dirty="0"/>
          </a:p>
        </p:txBody>
      </p:sp>
      <p:sp>
        <p:nvSpPr>
          <p:cNvPr id="25" name="Text 18"/>
          <p:cNvSpPr/>
          <p:nvPr/>
        </p:nvSpPr>
        <p:spPr>
          <a:xfrm>
            <a:off x="10058400" y="2273829"/>
            <a:ext cx="12192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6CF"/>
                </a:solidFill>
                <a:latin typeface="DM Sans" pitchFamily="34" charset="0"/>
                <a:ea typeface="DM Sans" pitchFamily="34" charset="-122"/>
                <a:cs typeface="DM Sans" pitchFamily="34" charset="-120"/>
              </a:rPr>
              <a:t>decisions</a:t>
            </a:r>
            <a:endParaRPr lang="en-US" sz="1200" dirty="0"/>
          </a:p>
        </p:txBody>
      </p:sp>
      <p:sp>
        <p:nvSpPr>
          <p:cNvPr id="26" name="Text 19"/>
          <p:cNvSpPr/>
          <p:nvPr/>
        </p:nvSpPr>
        <p:spPr>
          <a:xfrm>
            <a:off x="812800" y="3221788"/>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Incremental:</a:t>
            </a:r>
            <a:r>
              <a:rPr lang="en-US" sz="1500" dirty="0">
                <a:solidFill>
                  <a:srgbClr val="4A5A55"/>
                </a:solidFill>
                <a:latin typeface="DM Sans" pitchFamily="34" charset="0"/>
                <a:ea typeface="DM Sans" pitchFamily="34" charset="-122"/>
                <a:cs typeface="DM Sans" pitchFamily="34" charset="-120"/>
              </a:rPr>
              <a:t> a watermark file means each run loads only new rows.</a:t>
            </a:r>
            <a:endParaRPr lang="en-US" sz="1500" dirty="0"/>
          </a:p>
        </p:txBody>
      </p:sp>
      <p:sp>
        <p:nvSpPr>
          <p:cNvPr id="27" name="Text 20"/>
          <p:cNvSpPr/>
          <p:nvPr/>
        </p:nvSpPr>
        <p:spPr>
          <a:xfrm>
            <a:off x="812800" y="3580563"/>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Metadata-driven:</a:t>
            </a:r>
            <a:r>
              <a:rPr lang="en-US" sz="1500" dirty="0">
                <a:solidFill>
                  <a:srgbClr val="4A5A55"/>
                </a:solidFill>
                <a:latin typeface="DM Sans" pitchFamily="34" charset="0"/>
                <a:ea typeface="DM Sans" pitchFamily="34" charset="-122"/>
                <a:cs typeface="DM Sans" pitchFamily="34" charset="-120"/>
              </a:rPr>
              <a:t> Jinja templates generate the gold SQL, so adding a table is configuration, not new code.</a:t>
            </a:r>
            <a:endParaRPr lang="en-US" sz="1500" dirty="0"/>
          </a:p>
        </p:txBody>
      </p:sp>
      <p:sp>
        <p:nvSpPr>
          <p:cNvPr id="28" name="Text 21"/>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29" name="Text 22"/>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Why these tools: enterprise needs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089" y="1525103"/>
          <a:ext cx="10555111" cy="2307696"/>
        </p:xfrm>
        <a:graphic>
          <a:graphicData uri="http://schemas.openxmlformats.org/drawingml/2006/table">
            <a:tbl>
              <a:tblPr/>
              <a:tblGrid>
                <a:gridCol w="2533227">
                  <a:extLst>
                    <a:ext uri="{9D8B030D-6E8A-4147-A177-3AD203B41FA5}">
                      <a16:colId xmlns:a16="http://schemas.microsoft.com/office/drawing/2014/main" val="20000"/>
                    </a:ext>
                  </a:extLst>
                </a:gridCol>
                <a:gridCol w="4855351">
                  <a:extLst>
                    <a:ext uri="{9D8B030D-6E8A-4147-A177-3AD203B41FA5}">
                      <a16:colId xmlns:a16="http://schemas.microsoft.com/office/drawing/2014/main" val="20001"/>
                    </a:ext>
                  </a:extLst>
                </a:gridCol>
                <a:gridCol w="3166533">
                  <a:extLst>
                    <a:ext uri="{9D8B030D-6E8A-4147-A177-3AD203B41FA5}">
                      <a16:colId xmlns:a16="http://schemas.microsoft.com/office/drawing/2014/main" val="20002"/>
                    </a:ext>
                  </a:extLst>
                </a:gridCol>
              </a:tblGrid>
              <a:tr h="384616">
                <a:tc>
                  <a:txBody>
                    <a:bodyPr/>
                    <a:lstStyle/>
                    <a:p>
                      <a:pPr marL="0" indent="0">
                        <a:lnSpc>
                          <a:spcPts val="1960"/>
                        </a:lnSpc>
                        <a:buNone/>
                      </a:pPr>
                      <a:r>
                        <a:rPr lang="en-US" sz="1400" b="1" dirty="0">
                          <a:solidFill>
                            <a:srgbClr val="10201C"/>
                          </a:solidFill>
                          <a:latin typeface="DM Sans" pitchFamily="34" charset="0"/>
                          <a:ea typeface="DM Sans" pitchFamily="34" charset="-122"/>
                          <a:cs typeface="DM Sans" pitchFamily="34" charset="-120"/>
                        </a:rPr>
                        <a:t>Tool</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D"/>
                    </a:solidFill>
                  </a:tcPr>
                </a:tc>
                <a:tc>
                  <a:txBody>
                    <a:bodyPr/>
                    <a:lstStyle/>
                    <a:p>
                      <a:pPr marL="0" indent="0">
                        <a:lnSpc>
                          <a:spcPts val="1960"/>
                        </a:lnSpc>
                        <a:buNone/>
                      </a:pPr>
                      <a:r>
                        <a:rPr lang="en-US" sz="1400" b="1" dirty="0">
                          <a:solidFill>
                            <a:srgbClr val="10201C"/>
                          </a:solidFill>
                          <a:latin typeface="DM Sans" pitchFamily="34" charset="0"/>
                          <a:ea typeface="DM Sans" pitchFamily="34" charset="-122"/>
                          <a:cs typeface="DM Sans" pitchFamily="34" charset="-120"/>
                        </a:rPr>
                        <a:t>Why chosen</a:t>
                      </a:r>
                      <a:endParaRPr lang="en-US" sz="1400" dirty="0">
                        <a:latin typeface="DM Sans" charset="0"/>
                        <a:ea typeface="DM Sans" charset="0"/>
                        <a:cs typeface="DM Sans" charset="0"/>
                      </a:endParaRPr>
                    </a:p>
                  </a:txBody>
                  <a:tcPr marL="62230" marR="62230" marT="62230" marB="6223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D"/>
                    </a:solidFill>
                  </a:tcPr>
                </a:tc>
                <a:tc>
                  <a:txBody>
                    <a:bodyPr/>
                    <a:lstStyle/>
                    <a:p>
                      <a:pPr marL="0" indent="0">
                        <a:lnSpc>
                          <a:spcPts val="1960"/>
                        </a:lnSpc>
                        <a:buNone/>
                      </a:pPr>
                      <a:r>
                        <a:rPr lang="en-US" sz="1400" b="1" dirty="0">
                          <a:solidFill>
                            <a:srgbClr val="10201C"/>
                          </a:solidFill>
                          <a:latin typeface="DM Sans" pitchFamily="34" charset="0"/>
                          <a:ea typeface="DM Sans" pitchFamily="34" charset="-122"/>
                          <a:cs typeface="DM Sans" pitchFamily="34" charset="-120"/>
                        </a:rPr>
                        <a:t>Need met</a:t>
                      </a:r>
                      <a:endParaRPr lang="en-US" sz="1400" dirty="0">
                        <a:latin typeface="DM Sans" charset="0"/>
                        <a:ea typeface="DM Sans" charset="0"/>
                        <a:cs typeface="DM Sans" charset="0"/>
                      </a:endParaRPr>
                    </a:p>
                  </a:txBody>
                  <a:tcPr marL="62230" marR="62230" marT="62230" marB="6223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D"/>
                    </a:solidFill>
                  </a:tcPr>
                </a:tc>
                <a:extLst>
                  <a:ext uri="{0D108BD9-81ED-4DB2-BD59-A6C34878D82A}">
                    <a16:rowId xmlns:a16="http://schemas.microsoft.com/office/drawing/2014/main" val="10000"/>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Data Factory</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Scheduled incremental loads, no code</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Automation</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extLst>
                  <a:ext uri="{0D108BD9-81ED-4DB2-BD59-A6C34878D82A}">
                    <a16:rowId xmlns:a16="http://schemas.microsoft.com/office/drawing/2014/main" val="10001"/>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Data Lake Gen2</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Cheap, scalable file storage</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Scalability</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2"/>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Delta Lake</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Reliable tables, MERGE for history</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Reliability</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extLst>
                  <a:ext uri="{0D108BD9-81ED-4DB2-BD59-A6C34878D82A}">
                    <a16:rowId xmlns:a16="http://schemas.microsoft.com/office/drawing/2014/main" val="10003"/>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Autoloader</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Picks up new files automatically</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Near real time</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4"/>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Spark on Databricks</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Distributed processing</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Growth in volume</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extLst>
                  <a:ext uri="{0D108BD9-81ED-4DB2-BD59-A6C34878D82A}">
                    <a16:rowId xmlns:a16="http://schemas.microsoft.com/office/drawing/2014/main" val="10005"/>
                  </a:ext>
                </a:extLst>
              </a:tr>
            </a:tbl>
          </a:graphicData>
        </a:graphic>
      </p:graphicFrame>
      <p:sp>
        <p:nvSpPr>
          <p:cNvPr id="4" name="Text 1"/>
          <p:cNvSpPr/>
          <p:nvPr/>
        </p:nvSpPr>
        <p:spPr>
          <a:xfrm>
            <a:off x="812800" y="4086799"/>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Trend:</a:t>
            </a:r>
            <a:r>
              <a:rPr lang="en-US" sz="1500" dirty="0">
                <a:solidFill>
                  <a:srgbClr val="4A5A55"/>
                </a:solidFill>
                <a:latin typeface="DM Sans" pitchFamily="34" charset="0"/>
                <a:ea typeface="DM Sans" pitchFamily="34" charset="-122"/>
                <a:cs typeface="DM Sans" pitchFamily="34" charset="-120"/>
              </a:rPr>
              <a:t> the lakehouse puts reporting and machine learning on one platform instead of two.</a:t>
            </a:r>
            <a:endParaRPr lang="en-US" sz="1500" dirty="0"/>
          </a:p>
        </p:txBody>
      </p:sp>
      <p:sp>
        <p:nvSpPr>
          <p:cNvPr id="5" name="Text 2"/>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6" name="Text 3"/>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Analysis: predicting who will churn</a:t>
            </a:r>
            <a:endParaRPr lang="en-US" sz="3200" dirty="0"/>
          </a:p>
        </p:txBody>
      </p:sp>
      <p:sp>
        <p:nvSpPr>
          <p:cNvPr id="3" name="Shape 1"/>
          <p:cNvSpPr/>
          <p:nvPr/>
        </p:nvSpPr>
        <p:spPr>
          <a:xfrm>
            <a:off x="815975" y="1567790"/>
            <a:ext cx="3380317" cy="2157501"/>
          </a:xfrm>
          <a:prstGeom prst="roundRect">
            <a:avLst>
              <a:gd name="adj" fmla="val 4562"/>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47044" y="1798858"/>
            <a:ext cx="300572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1</a:t>
            </a:r>
            <a:endParaRPr lang="en-US" sz="2800" dirty="0"/>
          </a:p>
        </p:txBody>
      </p:sp>
      <p:sp>
        <p:nvSpPr>
          <p:cNvPr id="5" name="Text 3"/>
          <p:cNvSpPr/>
          <p:nvPr/>
        </p:nvSpPr>
        <p:spPr>
          <a:xfrm>
            <a:off x="1047044" y="2398272"/>
            <a:ext cx="300572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Define churn</a:t>
            </a:r>
            <a:endParaRPr lang="en-US" sz="1800" dirty="0"/>
          </a:p>
        </p:txBody>
      </p:sp>
      <p:sp>
        <p:nvSpPr>
          <p:cNvPr id="6" name="Text 4"/>
          <p:cNvSpPr/>
          <p:nvPr/>
        </p:nvSpPr>
        <p:spPr>
          <a:xfrm>
            <a:off x="1047044" y="2774156"/>
            <a:ext cx="3005723"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No streams after a cutoff date.</a:t>
            </a:r>
            <a:endParaRPr lang="en-US" sz="1400" dirty="0"/>
          </a:p>
        </p:txBody>
      </p:sp>
      <p:sp>
        <p:nvSpPr>
          <p:cNvPr id="7" name="Shape 5"/>
          <p:cNvSpPr/>
          <p:nvPr/>
        </p:nvSpPr>
        <p:spPr>
          <a:xfrm>
            <a:off x="4405842" y="1567790"/>
            <a:ext cx="3380317" cy="2157501"/>
          </a:xfrm>
          <a:prstGeom prst="roundRect">
            <a:avLst>
              <a:gd name="adj" fmla="val 4562"/>
            </a:avLst>
          </a:prstGeom>
          <a:solidFill>
            <a:srgbClr val="FBFCF8"/>
          </a:solidFill>
          <a:ln w="6350">
            <a:solidFill>
              <a:srgbClr val="DCE2DA"/>
            </a:solidFill>
            <a:prstDash val="solid"/>
          </a:ln>
        </p:spPr>
        <p:txBody>
          <a:bodyPr/>
          <a:lstStyle/>
          <a:p>
            <a:endParaRPr lang="en-GB"/>
          </a:p>
        </p:txBody>
      </p:sp>
      <p:sp>
        <p:nvSpPr>
          <p:cNvPr id="8" name="Text 6"/>
          <p:cNvSpPr/>
          <p:nvPr/>
        </p:nvSpPr>
        <p:spPr>
          <a:xfrm>
            <a:off x="4636911" y="1798858"/>
            <a:ext cx="300572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2</a:t>
            </a:r>
            <a:endParaRPr lang="en-US" sz="2800" dirty="0"/>
          </a:p>
        </p:txBody>
      </p:sp>
      <p:sp>
        <p:nvSpPr>
          <p:cNvPr id="9" name="Text 7"/>
          <p:cNvSpPr/>
          <p:nvPr/>
        </p:nvSpPr>
        <p:spPr>
          <a:xfrm>
            <a:off x="4636911" y="2398272"/>
            <a:ext cx="300572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Build features</a:t>
            </a:r>
            <a:endParaRPr lang="en-US" sz="1800" dirty="0"/>
          </a:p>
        </p:txBody>
      </p:sp>
      <p:sp>
        <p:nvSpPr>
          <p:cNvPr id="10" name="Text 8"/>
          <p:cNvSpPr/>
          <p:nvPr/>
        </p:nvSpPr>
        <p:spPr>
          <a:xfrm>
            <a:off x="4636911" y="2774156"/>
            <a:ext cx="3005723" cy="74546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Plan, tenure, streams, listening time, tracks, days inactive. Only data before the cutoff.</a:t>
            </a:r>
            <a:endParaRPr lang="en-US" sz="1400" dirty="0"/>
          </a:p>
        </p:txBody>
      </p:sp>
      <p:sp>
        <p:nvSpPr>
          <p:cNvPr id="11" name="Shape 9"/>
          <p:cNvSpPr/>
          <p:nvPr/>
        </p:nvSpPr>
        <p:spPr>
          <a:xfrm>
            <a:off x="7995708" y="1567790"/>
            <a:ext cx="3380317" cy="2157501"/>
          </a:xfrm>
          <a:prstGeom prst="roundRect">
            <a:avLst>
              <a:gd name="adj" fmla="val 4562"/>
            </a:avLst>
          </a:prstGeom>
          <a:solidFill>
            <a:srgbClr val="FBFCF8"/>
          </a:solidFill>
          <a:ln w="6350">
            <a:solidFill>
              <a:srgbClr val="DCE2DA"/>
            </a:solidFill>
            <a:prstDash val="solid"/>
          </a:ln>
        </p:spPr>
        <p:txBody>
          <a:bodyPr/>
          <a:lstStyle/>
          <a:p>
            <a:endParaRPr lang="en-GB"/>
          </a:p>
        </p:txBody>
      </p:sp>
      <p:sp>
        <p:nvSpPr>
          <p:cNvPr id="12" name="Text 10"/>
          <p:cNvSpPr/>
          <p:nvPr/>
        </p:nvSpPr>
        <p:spPr>
          <a:xfrm>
            <a:off x="8226778" y="1798858"/>
            <a:ext cx="300572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3</a:t>
            </a:r>
            <a:endParaRPr lang="en-US" sz="2800" dirty="0"/>
          </a:p>
        </p:txBody>
      </p:sp>
      <p:sp>
        <p:nvSpPr>
          <p:cNvPr id="13" name="Text 11"/>
          <p:cNvSpPr/>
          <p:nvPr/>
        </p:nvSpPr>
        <p:spPr>
          <a:xfrm>
            <a:off x="8226778" y="2398272"/>
            <a:ext cx="300572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Fit and test</a:t>
            </a:r>
            <a:endParaRPr lang="en-US" sz="1800" dirty="0"/>
          </a:p>
        </p:txBody>
      </p:sp>
      <p:sp>
        <p:nvSpPr>
          <p:cNvPr id="14" name="Text 12"/>
          <p:cNvSpPr/>
          <p:nvPr/>
        </p:nvSpPr>
        <p:spPr>
          <a:xfrm>
            <a:off x="8226778" y="2774156"/>
            <a:ext cx="3005723"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Logistic regression, 75/25 split and 5-fold cross-validation.</a:t>
            </a:r>
            <a:endParaRPr lang="en-US" sz="1400" dirty="0"/>
          </a:p>
        </p:txBody>
      </p:sp>
      <p:sp>
        <p:nvSpPr>
          <p:cNvPr id="15" name="Text 13"/>
          <p:cNvSpPr/>
          <p:nvPr/>
        </p:nvSpPr>
        <p:spPr>
          <a:xfrm>
            <a:off x="812800" y="4033264"/>
            <a:ext cx="10883392"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Why logistic regression:</a:t>
            </a:r>
            <a:r>
              <a:rPr lang="en-US" sz="1500" dirty="0">
                <a:solidFill>
                  <a:srgbClr val="4A5A55"/>
                </a:solidFill>
                <a:latin typeface="DM Sans" pitchFamily="34" charset="0"/>
                <a:ea typeface="DM Sans" pitchFamily="34" charset="-122"/>
                <a:cs typeface="DM Sans" pitchFamily="34" charset="-120"/>
              </a:rPr>
              <a:t> simple, fast on small data, and each coefficient can be explained to managers. K-means segments are a second view.</a:t>
            </a:r>
            <a:endParaRPr lang="en-US" sz="1500" dirty="0"/>
          </a:p>
        </p:txBody>
      </p:sp>
      <p:sp>
        <p:nvSpPr>
          <p:cNvPr id="16" name="Text 14"/>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7" name="Text 15"/>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7841"/>
          </a:xfrm>
          <a:prstGeom prst="rect">
            <a:avLst/>
          </a:prstGeom>
          <a:noFill/>
          <a:ln/>
        </p:spPr>
        <p:txBody>
          <a:bodyPr wrap="square" lIns="0" tIns="0" rIns="0" bIns="0" rtlCol="0" anchor="t">
            <a:normAutofit/>
          </a:bodyPr>
          <a:lstStyle/>
          <a:p>
            <a:pPr marL="0" indent="0" algn="l">
              <a:lnSpc>
                <a:spcPts val="3267"/>
              </a:lnSpc>
              <a:buNone/>
            </a:pPr>
            <a:r>
              <a:rPr lang="en-US" sz="2970" b="1" i="0" dirty="0">
                <a:solidFill>
                  <a:srgbClr val="10201C"/>
                </a:solidFill>
                <a:latin typeface="DM Sans" pitchFamily="34" charset="0"/>
                <a:ea typeface="DM Sans" pitchFamily="34" charset="-122"/>
                <a:cs typeface="DM Sans" pitchFamily="34" charset="-120"/>
              </a:rPr>
              <a:t>Model results: little signal in the data</a:t>
            </a:r>
            <a:endParaRPr lang="en-US" sz="2970" dirty="0"/>
          </a:p>
        </p:txBody>
      </p:sp>
      <p:sp>
        <p:nvSpPr>
          <p:cNvPr id="3" name="Shape 1"/>
          <p:cNvSpPr/>
          <p:nvPr/>
        </p:nvSpPr>
        <p:spPr>
          <a:xfrm>
            <a:off x="815975" y="1533218"/>
            <a:ext cx="3712457" cy="1069578"/>
          </a:xfrm>
          <a:prstGeom prst="roundRect">
            <a:avLst>
              <a:gd name="adj" fmla="val 9202"/>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47044" y="1713486"/>
            <a:ext cx="3347828" cy="211843"/>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A55"/>
                </a:solidFill>
                <a:latin typeface="DM Sans" pitchFamily="34" charset="0"/>
                <a:ea typeface="DM Sans" pitchFamily="34" charset="-122"/>
                <a:cs typeface="DM Sans" pitchFamily="34" charset="-120"/>
              </a:rPr>
              <a:t>Test ROC AUC</a:t>
            </a:r>
            <a:endParaRPr lang="en-US" sz="1050" dirty="0"/>
          </a:p>
        </p:txBody>
      </p:sp>
      <p:sp>
        <p:nvSpPr>
          <p:cNvPr id="5" name="Text 3"/>
          <p:cNvSpPr/>
          <p:nvPr/>
        </p:nvSpPr>
        <p:spPr>
          <a:xfrm>
            <a:off x="1047044" y="1925331"/>
            <a:ext cx="3347828" cy="522596"/>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0.45</a:t>
            </a:r>
            <a:endParaRPr lang="en-US" sz="2800" dirty="0"/>
          </a:p>
        </p:txBody>
      </p:sp>
      <p:sp>
        <p:nvSpPr>
          <p:cNvPr id="6" name="Shape 4"/>
          <p:cNvSpPr/>
          <p:nvPr/>
        </p:nvSpPr>
        <p:spPr>
          <a:xfrm>
            <a:off x="815975" y="2761546"/>
            <a:ext cx="3712457" cy="1069534"/>
          </a:xfrm>
          <a:prstGeom prst="roundRect">
            <a:avLst>
              <a:gd name="adj" fmla="val 9203"/>
            </a:avLst>
          </a:prstGeom>
          <a:solidFill>
            <a:srgbClr val="FBFCF8"/>
          </a:solidFill>
          <a:ln w="6350">
            <a:solidFill>
              <a:srgbClr val="DCE2DA"/>
            </a:solidFill>
            <a:prstDash val="solid"/>
          </a:ln>
        </p:spPr>
        <p:txBody>
          <a:bodyPr/>
          <a:lstStyle/>
          <a:p>
            <a:endParaRPr lang="en-GB"/>
          </a:p>
        </p:txBody>
      </p:sp>
      <p:sp>
        <p:nvSpPr>
          <p:cNvPr id="7" name="Text 5"/>
          <p:cNvSpPr/>
          <p:nvPr/>
        </p:nvSpPr>
        <p:spPr>
          <a:xfrm>
            <a:off x="1047044" y="2941814"/>
            <a:ext cx="3347828" cy="211799"/>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A55"/>
                </a:solidFill>
                <a:latin typeface="DM Sans" pitchFamily="34" charset="0"/>
                <a:ea typeface="DM Sans" pitchFamily="34" charset="-122"/>
                <a:cs typeface="DM Sans" pitchFamily="34" charset="-120"/>
              </a:rPr>
              <a:t>5-fold cross-validation AUC</a:t>
            </a:r>
            <a:endParaRPr lang="en-US" sz="1050" dirty="0"/>
          </a:p>
        </p:txBody>
      </p:sp>
      <p:sp>
        <p:nvSpPr>
          <p:cNvPr id="8" name="Text 6"/>
          <p:cNvSpPr/>
          <p:nvPr/>
        </p:nvSpPr>
        <p:spPr>
          <a:xfrm>
            <a:off x="1047044" y="3153612"/>
            <a:ext cx="3347828" cy="522596"/>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0.49 ± 0.06</a:t>
            </a:r>
            <a:endParaRPr lang="en-US" sz="2800" dirty="0"/>
          </a:p>
        </p:txBody>
      </p:sp>
      <p:sp>
        <p:nvSpPr>
          <p:cNvPr id="9" name="Shape 7"/>
          <p:cNvSpPr/>
          <p:nvPr/>
        </p:nvSpPr>
        <p:spPr>
          <a:xfrm>
            <a:off x="815975" y="3989828"/>
            <a:ext cx="3712457" cy="1069578"/>
          </a:xfrm>
          <a:prstGeom prst="roundRect">
            <a:avLst>
              <a:gd name="adj" fmla="val 9202"/>
            </a:avLst>
          </a:prstGeom>
          <a:solidFill>
            <a:srgbClr val="FBFCF8"/>
          </a:solidFill>
          <a:ln w="6350">
            <a:solidFill>
              <a:srgbClr val="DCE2DA"/>
            </a:solidFill>
            <a:prstDash val="solid"/>
          </a:ln>
        </p:spPr>
        <p:txBody>
          <a:bodyPr/>
          <a:lstStyle/>
          <a:p>
            <a:endParaRPr lang="en-GB"/>
          </a:p>
        </p:txBody>
      </p:sp>
      <p:sp>
        <p:nvSpPr>
          <p:cNvPr id="10" name="Text 8"/>
          <p:cNvSpPr/>
          <p:nvPr/>
        </p:nvSpPr>
        <p:spPr>
          <a:xfrm>
            <a:off x="1047044" y="4170099"/>
            <a:ext cx="3347828" cy="211843"/>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A55"/>
                </a:solidFill>
                <a:latin typeface="DM Sans" pitchFamily="34" charset="0"/>
                <a:ea typeface="DM Sans" pitchFamily="34" charset="-122"/>
                <a:cs typeface="DM Sans" pitchFamily="34" charset="-120"/>
              </a:rPr>
              <a:t>Recall for churned users</a:t>
            </a:r>
            <a:endParaRPr lang="en-US" sz="1050" dirty="0"/>
          </a:p>
        </p:txBody>
      </p:sp>
      <p:sp>
        <p:nvSpPr>
          <p:cNvPr id="11" name="Text 9"/>
          <p:cNvSpPr/>
          <p:nvPr/>
        </p:nvSpPr>
        <p:spPr>
          <a:xfrm>
            <a:off x="1047044" y="4381940"/>
            <a:ext cx="3347828" cy="522596"/>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53%</a:t>
            </a:r>
            <a:endParaRPr lang="en-US" sz="2800" dirty="0"/>
          </a:p>
        </p:txBody>
      </p:sp>
      <p:sp>
        <p:nvSpPr>
          <p:cNvPr id="12" name="Shape 10"/>
          <p:cNvSpPr/>
          <p:nvPr/>
        </p:nvSpPr>
        <p:spPr>
          <a:xfrm>
            <a:off x="4795132" y="1539568"/>
            <a:ext cx="6574543" cy="3513490"/>
          </a:xfrm>
          <a:prstGeom prst="roundRect">
            <a:avLst>
              <a:gd name="adj" fmla="val 2621"/>
            </a:avLst>
          </a:prstGeom>
          <a:noFill/>
          <a:ln w="19050">
            <a:solidFill>
              <a:srgbClr val="9FB0A8"/>
            </a:solidFill>
            <a:prstDash val="dash"/>
          </a:ln>
        </p:spPr>
        <p:txBody>
          <a:bodyPr/>
          <a:lstStyle/>
          <a:p>
            <a:endParaRPr lang="en-GB"/>
          </a:p>
        </p:txBody>
      </p:sp>
      <p:sp>
        <p:nvSpPr>
          <p:cNvPr id="13" name="Text 11"/>
          <p:cNvSpPr/>
          <p:nvPr/>
        </p:nvSpPr>
        <p:spPr>
          <a:xfrm>
            <a:off x="5996803" y="2987718"/>
            <a:ext cx="4171156" cy="309871"/>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sp>
        <p:nvSpPr>
          <p:cNvPr id="15" name="Text 13"/>
          <p:cNvSpPr/>
          <p:nvPr/>
        </p:nvSpPr>
        <p:spPr>
          <a:xfrm>
            <a:off x="812800" y="5367381"/>
            <a:ext cx="10883392" cy="500018"/>
          </a:xfrm>
          <a:prstGeom prst="rect">
            <a:avLst/>
          </a:prstGeom>
          <a:noFill/>
          <a:ln/>
        </p:spPr>
        <p:txBody>
          <a:bodyPr wrap="square" lIns="0" tIns="0" rIns="0" bIns="0" rtlCol="0" anchor="t">
            <a:normAutofit/>
          </a:bodyPr>
          <a:lstStyle/>
          <a:p>
            <a:pPr marL="0" indent="0" algn="l">
              <a:lnSpc>
                <a:spcPts val="1886"/>
              </a:lnSpc>
              <a:buNone/>
            </a:pPr>
            <a:r>
              <a:rPr lang="en-US" sz="1397" b="1" dirty="0">
                <a:solidFill>
                  <a:srgbClr val="10201C"/>
                </a:solidFill>
                <a:latin typeface="DM Sans" pitchFamily="34" charset="0"/>
                <a:ea typeface="DM Sans" pitchFamily="34" charset="-122"/>
                <a:cs typeface="DM Sans" pitchFamily="34" charset="-120"/>
              </a:rPr>
              <a:t>Insight:</a:t>
            </a:r>
            <a:r>
              <a:rPr lang="en-US" sz="1397" dirty="0">
                <a:solidFill>
                  <a:srgbClr val="4A5A55"/>
                </a:solidFill>
                <a:latin typeface="DM Sans" pitchFamily="34" charset="0"/>
                <a:ea typeface="DM Sans" pitchFamily="34" charset="-122"/>
                <a:cs typeface="DM Sans" pitchFamily="34" charset="-120"/>
              </a:rPr>
              <a:t> An AUC below 0.5 means the model is no better than chance. On this synthetic data, behaviour does not predict who leaves.</a:t>
            </a:r>
            <a:endParaRPr lang="en-US" sz="1397" dirty="0"/>
          </a:p>
        </p:txBody>
      </p:sp>
      <p:sp>
        <p:nvSpPr>
          <p:cNvPr id="16" name="Text 14"/>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7" name="Text 15"/>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7</a:t>
            </a:r>
            <a:endParaRPr lang="en-US" sz="1200" dirty="0"/>
          </a:p>
        </p:txBody>
      </p:sp>
      <p:pic>
        <p:nvPicPr>
          <p:cNvPr id="19" name="Picture 18">
            <a:extLst>
              <a:ext uri="{FF2B5EF4-FFF2-40B4-BE49-F238E27FC236}">
                <a16:creationId xmlns:a16="http://schemas.microsoft.com/office/drawing/2014/main" id="{C1F90EB8-7ABE-9DAB-6435-B19EA22D34D3}"/>
              </a:ext>
            </a:extLst>
          </p:cNvPr>
          <p:cNvPicPr>
            <a:picLocks noChangeAspect="1"/>
          </p:cNvPicPr>
          <p:nvPr/>
        </p:nvPicPr>
        <p:blipFill>
          <a:blip r:embed="rId3"/>
          <a:stretch>
            <a:fillRect/>
          </a:stretch>
        </p:blipFill>
        <p:spPr>
          <a:xfrm>
            <a:off x="4759500" y="1530655"/>
            <a:ext cx="6619699" cy="35287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Executive view: churn by plan and market</a:t>
            </a:r>
            <a:endParaRPr lang="en-US" sz="3200" dirty="0"/>
          </a:p>
        </p:txBody>
      </p:sp>
      <p:sp>
        <p:nvSpPr>
          <p:cNvPr id="3" name="Shape 1"/>
          <p:cNvSpPr/>
          <p:nvPr/>
        </p:nvSpPr>
        <p:spPr>
          <a:xfrm>
            <a:off x="822325" y="1523340"/>
            <a:ext cx="5137150" cy="2647950"/>
          </a:xfrm>
          <a:prstGeom prst="roundRect">
            <a:avLst>
              <a:gd name="adj" fmla="val 3477"/>
            </a:avLst>
          </a:prstGeom>
          <a:noFill/>
          <a:ln w="19050">
            <a:solidFill>
              <a:srgbClr val="9FB0A8"/>
            </a:solidFill>
            <a:prstDash val="dash"/>
          </a:ln>
        </p:spPr>
        <p:txBody>
          <a:bodyPr/>
          <a:lstStyle/>
          <a:p>
            <a:endParaRPr lang="en-GB"/>
          </a:p>
        </p:txBody>
      </p:sp>
      <p:sp>
        <p:nvSpPr>
          <p:cNvPr id="4" name="Text 2"/>
          <p:cNvSpPr/>
          <p:nvPr/>
        </p:nvSpPr>
        <p:spPr>
          <a:xfrm>
            <a:off x="2524284" y="2551423"/>
            <a:ext cx="1733232" cy="309871"/>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sp>
        <p:nvSpPr>
          <p:cNvPr id="5" name="Text 3"/>
          <p:cNvSpPr/>
          <p:nvPr/>
        </p:nvSpPr>
        <p:spPr>
          <a:xfrm>
            <a:off x="1942835" y="2912092"/>
            <a:ext cx="2896129" cy="256514"/>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A55"/>
                </a:solidFill>
                <a:latin typeface="DM Sans" pitchFamily="34" charset="0"/>
                <a:ea typeface="DM Sans" pitchFamily="34" charset="-122"/>
                <a:cs typeface="DM Sans" pitchFamily="34" charset="-120"/>
              </a:rPr>
              <a:t>Churn rate by subscription plan</a:t>
            </a:r>
            <a:endParaRPr lang="en-US" sz="1300" dirty="0"/>
          </a:p>
        </p:txBody>
      </p:sp>
      <p:sp>
        <p:nvSpPr>
          <p:cNvPr id="6" name="Text 4"/>
          <p:cNvSpPr/>
          <p:nvPr/>
        </p:nvSpPr>
        <p:spPr>
          <a:xfrm>
            <a:off x="812800" y="4307811"/>
            <a:ext cx="5310886"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Family is highest at 55.7%, but all three plans sit within 3 points (52.8% to 55.7%).</a:t>
            </a:r>
            <a:endParaRPr lang="en-US" sz="1400" dirty="0"/>
          </a:p>
        </p:txBody>
      </p:sp>
      <p:sp>
        <p:nvSpPr>
          <p:cNvPr id="7" name="Shape 5"/>
          <p:cNvSpPr/>
          <p:nvPr/>
        </p:nvSpPr>
        <p:spPr>
          <a:xfrm>
            <a:off x="6232525" y="1523340"/>
            <a:ext cx="5137150" cy="2647950"/>
          </a:xfrm>
          <a:prstGeom prst="roundRect">
            <a:avLst>
              <a:gd name="adj" fmla="val 3477"/>
            </a:avLst>
          </a:prstGeom>
          <a:noFill/>
          <a:ln w="19050">
            <a:solidFill>
              <a:srgbClr val="9FB0A8"/>
            </a:solidFill>
            <a:prstDash val="dash"/>
          </a:ln>
        </p:spPr>
        <p:txBody>
          <a:bodyPr/>
          <a:lstStyle/>
          <a:p>
            <a:endParaRPr lang="en-GB"/>
          </a:p>
        </p:txBody>
      </p:sp>
      <p:sp>
        <p:nvSpPr>
          <p:cNvPr id="8" name="Text 6"/>
          <p:cNvSpPr/>
          <p:nvPr/>
        </p:nvSpPr>
        <p:spPr>
          <a:xfrm>
            <a:off x="7908501" y="2551423"/>
            <a:ext cx="1785197" cy="309871"/>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sp>
        <p:nvSpPr>
          <p:cNvPr id="9" name="Text 7"/>
          <p:cNvSpPr/>
          <p:nvPr/>
        </p:nvSpPr>
        <p:spPr>
          <a:xfrm>
            <a:off x="7334784" y="2912092"/>
            <a:ext cx="2932589" cy="256514"/>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A55"/>
                </a:solidFill>
                <a:latin typeface="DM Sans" pitchFamily="34" charset="0"/>
                <a:ea typeface="DM Sans" pitchFamily="34" charset="-122"/>
                <a:cs typeface="DM Sans" pitchFamily="34" charset="-120"/>
              </a:rPr>
              <a:t>Top 10 markets by listening time</a:t>
            </a:r>
            <a:endParaRPr lang="en-US" sz="1300" dirty="0"/>
          </a:p>
        </p:txBody>
      </p:sp>
      <p:sp>
        <p:nvSpPr>
          <p:cNvPr id="10" name="Text 8"/>
          <p:cNvSpPr/>
          <p:nvPr/>
        </p:nvSpPr>
        <p:spPr>
          <a:xfrm>
            <a:off x="6223000" y="4307811"/>
            <a:ext cx="5310886"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Bolivia leads on listening time, ahead of Tonga and Angola. Units to be confirmed.</a:t>
            </a:r>
            <a:endParaRPr lang="en-US" sz="1400" dirty="0"/>
          </a:p>
        </p:txBody>
      </p:sp>
      <p:sp>
        <p:nvSpPr>
          <p:cNvPr id="11" name="Text 9"/>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2" name="Text 10"/>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8</a:t>
            </a:r>
            <a:endParaRPr lang="en-US" sz="1200" dirty="0"/>
          </a:p>
        </p:txBody>
      </p:sp>
      <p:pic>
        <p:nvPicPr>
          <p:cNvPr id="14" name="Picture 13">
            <a:extLst>
              <a:ext uri="{FF2B5EF4-FFF2-40B4-BE49-F238E27FC236}">
                <a16:creationId xmlns:a16="http://schemas.microsoft.com/office/drawing/2014/main" id="{E07B69BE-FE9E-5028-415C-F3C9E5BA89D7}"/>
              </a:ext>
            </a:extLst>
          </p:cNvPr>
          <p:cNvPicPr>
            <a:picLocks noChangeAspect="1"/>
          </p:cNvPicPr>
          <p:nvPr/>
        </p:nvPicPr>
        <p:blipFill>
          <a:blip r:embed="rId3"/>
          <a:stretch>
            <a:fillRect/>
          </a:stretch>
        </p:blipFill>
        <p:spPr>
          <a:xfrm>
            <a:off x="807332" y="1514681"/>
            <a:ext cx="5167133" cy="2665268"/>
          </a:xfrm>
          <a:prstGeom prst="rect">
            <a:avLst/>
          </a:prstGeom>
        </p:spPr>
      </p:pic>
      <p:pic>
        <p:nvPicPr>
          <p:cNvPr id="16" name="Picture 15">
            <a:extLst>
              <a:ext uri="{FF2B5EF4-FFF2-40B4-BE49-F238E27FC236}">
                <a16:creationId xmlns:a16="http://schemas.microsoft.com/office/drawing/2014/main" id="{5E01B769-2046-E203-ED2F-69EE06EFD15B}"/>
              </a:ext>
            </a:extLst>
          </p:cNvPr>
          <p:cNvPicPr>
            <a:picLocks noChangeAspect="1"/>
          </p:cNvPicPr>
          <p:nvPr/>
        </p:nvPicPr>
        <p:blipFill>
          <a:blip r:embed="rId4"/>
          <a:stretch>
            <a:fillRect/>
          </a:stretch>
        </p:blipFill>
        <p:spPr>
          <a:xfrm>
            <a:off x="6212069" y="1486063"/>
            <a:ext cx="5167131" cy="2722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0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5EF"/>
                </a:solidFill>
                <a:latin typeface="DM Sans" pitchFamily="34" charset="0"/>
                <a:ea typeface="DM Sans" pitchFamily="34" charset="-122"/>
                <a:cs typeface="DM Sans" pitchFamily="34" charset="-120"/>
              </a:rPr>
              <a:t>Findings and recommendations</a:t>
            </a:r>
            <a:endParaRPr lang="en-US" sz="3200" dirty="0"/>
          </a:p>
        </p:txBody>
      </p:sp>
      <p:sp>
        <p:nvSpPr>
          <p:cNvPr id="3" name="Shape 1"/>
          <p:cNvSpPr/>
          <p:nvPr/>
        </p:nvSpPr>
        <p:spPr>
          <a:xfrm>
            <a:off x="812800" y="1564611"/>
            <a:ext cx="10566400" cy="986764"/>
          </a:xfrm>
          <a:prstGeom prst="roundRect">
            <a:avLst>
              <a:gd name="adj" fmla="val 10296"/>
            </a:avLst>
          </a:prstGeom>
          <a:solidFill>
            <a:srgbClr val="1A2F2A"/>
          </a:solidFill>
          <a:ln/>
        </p:spPr>
        <p:txBody>
          <a:bodyPr/>
          <a:lstStyle/>
          <a:p>
            <a:endParaRPr lang="en-GB"/>
          </a:p>
        </p:txBody>
      </p:sp>
      <p:sp>
        <p:nvSpPr>
          <p:cNvPr id="4" name="Text 2"/>
          <p:cNvSpPr/>
          <p:nvPr/>
        </p:nvSpPr>
        <p:spPr>
          <a:xfrm>
            <a:off x="1066800" y="1773504"/>
            <a:ext cx="558800" cy="594342"/>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BF8F"/>
                </a:solidFill>
                <a:latin typeface="DM Sans" pitchFamily="34" charset="0"/>
                <a:ea typeface="DM Sans" pitchFamily="34" charset="-122"/>
                <a:cs typeface="DM Sans" pitchFamily="34" charset="-120"/>
              </a:rPr>
              <a:t>1</a:t>
            </a:r>
            <a:endParaRPr lang="en-US" sz="3200" dirty="0"/>
          </a:p>
        </p:txBody>
      </p:sp>
      <p:sp>
        <p:nvSpPr>
          <p:cNvPr id="5" name="Text 3"/>
          <p:cNvSpPr/>
          <p:nvPr/>
        </p:nvSpPr>
        <p:spPr>
          <a:xfrm>
            <a:off x="1778000" y="1767811"/>
            <a:ext cx="4777608" cy="314942"/>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5EF"/>
                </a:solidFill>
                <a:latin typeface="DM Sans" pitchFamily="34" charset="0"/>
                <a:ea typeface="DM Sans" pitchFamily="34" charset="-122"/>
                <a:cs typeface="DM Sans" pitchFamily="34" charset="-120"/>
              </a:rPr>
              <a:t>Collect real cancellation data first</a:t>
            </a:r>
            <a:endParaRPr lang="en-US" sz="1900" dirty="0"/>
          </a:p>
        </p:txBody>
      </p:sp>
      <p:sp>
        <p:nvSpPr>
          <p:cNvPr id="6" name="Text 4"/>
          <p:cNvSpPr/>
          <p:nvPr/>
        </p:nvSpPr>
        <p:spPr>
          <a:xfrm>
            <a:off x="1778000" y="2108157"/>
            <a:ext cx="5566145"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5D6CF"/>
                </a:solidFill>
                <a:latin typeface="DM Sans" pitchFamily="34" charset="0"/>
                <a:ea typeface="DM Sans" pitchFamily="34" charset="-122"/>
                <a:cs typeface="DM Sans" pitchFamily="34" charset="-120"/>
              </a:rPr>
              <a:t>Record cancellations, so churn is measured, not inferred.</a:t>
            </a:r>
            <a:endParaRPr lang="en-US" sz="1400" dirty="0"/>
          </a:p>
        </p:txBody>
      </p:sp>
      <p:sp>
        <p:nvSpPr>
          <p:cNvPr id="7" name="Shape 5"/>
          <p:cNvSpPr/>
          <p:nvPr/>
        </p:nvSpPr>
        <p:spPr>
          <a:xfrm>
            <a:off x="812800" y="2703779"/>
            <a:ext cx="10566400" cy="986764"/>
          </a:xfrm>
          <a:prstGeom prst="roundRect">
            <a:avLst>
              <a:gd name="adj" fmla="val 10296"/>
            </a:avLst>
          </a:prstGeom>
          <a:solidFill>
            <a:srgbClr val="1A2F2A"/>
          </a:solidFill>
          <a:ln/>
        </p:spPr>
        <p:txBody>
          <a:bodyPr/>
          <a:lstStyle/>
          <a:p>
            <a:endParaRPr lang="en-GB"/>
          </a:p>
        </p:txBody>
      </p:sp>
      <p:sp>
        <p:nvSpPr>
          <p:cNvPr id="8" name="Text 6"/>
          <p:cNvSpPr/>
          <p:nvPr/>
        </p:nvSpPr>
        <p:spPr>
          <a:xfrm>
            <a:off x="1066800" y="2912666"/>
            <a:ext cx="558800" cy="594342"/>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BF8F"/>
                </a:solidFill>
                <a:latin typeface="DM Sans" pitchFamily="34" charset="0"/>
                <a:ea typeface="DM Sans" pitchFamily="34" charset="-122"/>
                <a:cs typeface="DM Sans" pitchFamily="34" charset="-120"/>
              </a:rPr>
              <a:t>2</a:t>
            </a:r>
            <a:endParaRPr lang="en-US" sz="3200" dirty="0"/>
          </a:p>
        </p:txBody>
      </p:sp>
      <p:sp>
        <p:nvSpPr>
          <p:cNvPr id="9" name="Text 7"/>
          <p:cNvSpPr/>
          <p:nvPr/>
        </p:nvSpPr>
        <p:spPr>
          <a:xfrm>
            <a:off x="1778000" y="2906979"/>
            <a:ext cx="6102985" cy="314942"/>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5EF"/>
                </a:solidFill>
                <a:latin typeface="DM Sans" pitchFamily="34" charset="0"/>
                <a:ea typeface="DM Sans" pitchFamily="34" charset="-122"/>
                <a:cs typeface="DM Sans" pitchFamily="34" charset="-120"/>
              </a:rPr>
              <a:t>Put marketing budget behind top markets</a:t>
            </a:r>
            <a:endParaRPr lang="en-US" sz="1900" dirty="0"/>
          </a:p>
        </p:txBody>
      </p:sp>
      <p:sp>
        <p:nvSpPr>
          <p:cNvPr id="10" name="Text 8"/>
          <p:cNvSpPr/>
          <p:nvPr/>
        </p:nvSpPr>
        <p:spPr>
          <a:xfrm>
            <a:off x="1778000" y="3247318"/>
            <a:ext cx="6102985"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5D6CF"/>
                </a:solidFill>
                <a:latin typeface="DM Sans" pitchFamily="34" charset="0"/>
                <a:ea typeface="DM Sans" pitchFamily="34" charset="-122"/>
                <a:cs typeface="DM Sans" pitchFamily="34" charset="-120"/>
              </a:rPr>
              <a:t>Start with Bolivia, Tonga and Angola, once units are confirmed.</a:t>
            </a:r>
            <a:endParaRPr lang="en-US" sz="1400" dirty="0"/>
          </a:p>
        </p:txBody>
      </p:sp>
      <p:sp>
        <p:nvSpPr>
          <p:cNvPr id="11" name="Shape 9"/>
          <p:cNvSpPr/>
          <p:nvPr/>
        </p:nvSpPr>
        <p:spPr>
          <a:xfrm>
            <a:off x="812800" y="3842941"/>
            <a:ext cx="10566400" cy="986764"/>
          </a:xfrm>
          <a:prstGeom prst="roundRect">
            <a:avLst>
              <a:gd name="adj" fmla="val 10296"/>
            </a:avLst>
          </a:prstGeom>
          <a:solidFill>
            <a:srgbClr val="1A2F2A"/>
          </a:solidFill>
          <a:ln/>
        </p:spPr>
        <p:txBody>
          <a:bodyPr/>
          <a:lstStyle/>
          <a:p>
            <a:endParaRPr lang="en-GB"/>
          </a:p>
        </p:txBody>
      </p:sp>
      <p:sp>
        <p:nvSpPr>
          <p:cNvPr id="12" name="Text 10"/>
          <p:cNvSpPr/>
          <p:nvPr/>
        </p:nvSpPr>
        <p:spPr>
          <a:xfrm>
            <a:off x="1066800" y="4051827"/>
            <a:ext cx="558800" cy="594342"/>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BF8F"/>
                </a:solidFill>
                <a:latin typeface="DM Sans" pitchFamily="34" charset="0"/>
                <a:ea typeface="DM Sans" pitchFamily="34" charset="-122"/>
                <a:cs typeface="DM Sans" pitchFamily="34" charset="-120"/>
              </a:rPr>
              <a:t>3</a:t>
            </a:r>
            <a:endParaRPr lang="en-US" sz="3200" dirty="0"/>
          </a:p>
        </p:txBody>
      </p:sp>
      <p:sp>
        <p:nvSpPr>
          <p:cNvPr id="13" name="Text 11"/>
          <p:cNvSpPr/>
          <p:nvPr/>
        </p:nvSpPr>
        <p:spPr>
          <a:xfrm>
            <a:off x="1778000" y="4046141"/>
            <a:ext cx="6388735" cy="314942"/>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5EF"/>
                </a:solidFill>
                <a:latin typeface="DM Sans" pitchFamily="34" charset="0"/>
                <a:ea typeface="DM Sans" pitchFamily="34" charset="-122"/>
                <a:cs typeface="DM Sans" pitchFamily="34" charset="-120"/>
              </a:rPr>
              <a:t>Make the gold layer the single source of truth</a:t>
            </a:r>
            <a:endParaRPr lang="en-US" sz="1900" dirty="0"/>
          </a:p>
        </p:txBody>
      </p:sp>
      <p:sp>
        <p:nvSpPr>
          <p:cNvPr id="14" name="Text 12"/>
          <p:cNvSpPr/>
          <p:nvPr/>
        </p:nvSpPr>
        <p:spPr>
          <a:xfrm>
            <a:off x="1778000" y="4386486"/>
            <a:ext cx="5483664"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5D6CF"/>
                </a:solidFill>
                <a:latin typeface="DM Sans" pitchFamily="34" charset="0"/>
                <a:ea typeface="DM Sans" pitchFamily="34" charset="-122"/>
                <a:cs typeface="DM Sans" pitchFamily="34" charset="-120"/>
              </a:rPr>
              <a:t>Refresh daily, then retest the model on real data.</a:t>
            </a:r>
            <a:endParaRPr lang="en-US" sz="1400" dirty="0"/>
          </a:p>
        </p:txBody>
      </p:sp>
      <p:sp>
        <p:nvSpPr>
          <p:cNvPr id="15" name="Text 13"/>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AB"/>
                </a:solidFill>
                <a:latin typeface="DM Sans" pitchFamily="34" charset="0"/>
                <a:ea typeface="DM Sans" pitchFamily="34" charset="-122"/>
                <a:cs typeface="DM Sans" pitchFamily="34" charset="-120"/>
              </a:rPr>
              <a:t>Hypothetical case study · synthetic data</a:t>
            </a:r>
            <a:endParaRPr lang="en-US" sz="1200" dirty="0"/>
          </a:p>
        </p:txBody>
      </p:sp>
      <p:sp>
        <p:nvSpPr>
          <p:cNvPr id="16" name="Text 14"/>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AB"/>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Legal and ethical considerations</a:t>
            </a:r>
            <a:endParaRPr lang="en-US" sz="3200" dirty="0"/>
          </a:p>
        </p:txBody>
      </p:sp>
      <p:sp>
        <p:nvSpPr>
          <p:cNvPr id="3" name="Shape 1"/>
          <p:cNvSpPr/>
          <p:nvPr/>
        </p:nvSpPr>
        <p:spPr>
          <a:xfrm>
            <a:off x="815975" y="1567786"/>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47044" y="1798861"/>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Privacy and UK GDPR</a:t>
            </a:r>
            <a:endParaRPr lang="en-US" sz="1800" dirty="0"/>
          </a:p>
        </p:txBody>
      </p:sp>
      <p:sp>
        <p:nvSpPr>
          <p:cNvPr id="5" name="Text 3"/>
          <p:cNvSpPr/>
          <p:nvPr/>
        </p:nvSpPr>
        <p:spPr>
          <a:xfrm>
            <a:off x="1047044" y="2149345"/>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Collect only what is needed. Pseudonymise user names. State the lawful basis.</a:t>
            </a:r>
            <a:endParaRPr lang="en-US" sz="1400" dirty="0"/>
          </a:p>
        </p:txBody>
      </p:sp>
      <p:sp>
        <p:nvSpPr>
          <p:cNvPr id="6" name="Shape 4"/>
          <p:cNvSpPr/>
          <p:nvPr/>
        </p:nvSpPr>
        <p:spPr>
          <a:xfrm>
            <a:off x="6200775" y="1567786"/>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7" name="Text 5"/>
          <p:cNvSpPr/>
          <p:nvPr/>
        </p:nvSpPr>
        <p:spPr>
          <a:xfrm>
            <a:off x="6431845" y="1798861"/>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Security</a:t>
            </a:r>
            <a:endParaRPr lang="en-US" sz="1800" dirty="0"/>
          </a:p>
        </p:txBody>
      </p:sp>
      <p:sp>
        <p:nvSpPr>
          <p:cNvPr id="8" name="Text 6"/>
          <p:cNvSpPr/>
          <p:nvPr/>
        </p:nvSpPr>
        <p:spPr>
          <a:xfrm>
            <a:off x="6431845" y="2149345"/>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Role-based access in Azure and Unity Catalog. Least privilege for every user.</a:t>
            </a:r>
            <a:endParaRPr lang="en-US" sz="1400" dirty="0"/>
          </a:p>
        </p:txBody>
      </p:sp>
      <p:sp>
        <p:nvSpPr>
          <p:cNvPr id="9" name="Shape 7"/>
          <p:cNvSpPr/>
          <p:nvPr/>
        </p:nvSpPr>
        <p:spPr>
          <a:xfrm>
            <a:off x="815975" y="3070008"/>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10" name="Text 8"/>
          <p:cNvSpPr/>
          <p:nvPr/>
        </p:nvSpPr>
        <p:spPr>
          <a:xfrm>
            <a:off x="1047044" y="3301076"/>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Fairness</a:t>
            </a:r>
            <a:endParaRPr lang="en-US" sz="1800" dirty="0"/>
          </a:p>
        </p:txBody>
      </p:sp>
      <p:sp>
        <p:nvSpPr>
          <p:cNvPr id="11" name="Text 9"/>
          <p:cNvSpPr/>
          <p:nvPr/>
        </p:nvSpPr>
        <p:spPr>
          <a:xfrm>
            <a:off x="1047044" y="3651560"/>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No sensitive attributes in the model. Country is used in charts only.</a:t>
            </a:r>
            <a:endParaRPr lang="en-US" sz="1400" dirty="0"/>
          </a:p>
        </p:txBody>
      </p:sp>
      <p:sp>
        <p:nvSpPr>
          <p:cNvPr id="12" name="Shape 10"/>
          <p:cNvSpPr/>
          <p:nvPr/>
        </p:nvSpPr>
        <p:spPr>
          <a:xfrm>
            <a:off x="6200775" y="3070008"/>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13" name="Text 11"/>
          <p:cNvSpPr/>
          <p:nvPr/>
        </p:nvSpPr>
        <p:spPr>
          <a:xfrm>
            <a:off x="6431845" y="3301076"/>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Responsible use</a:t>
            </a:r>
            <a:endParaRPr lang="en-US" sz="1800" dirty="0"/>
          </a:p>
        </p:txBody>
      </p:sp>
      <p:sp>
        <p:nvSpPr>
          <p:cNvPr id="14" name="Text 12"/>
          <p:cNvSpPr/>
          <p:nvPr/>
        </p:nvSpPr>
        <p:spPr>
          <a:xfrm>
            <a:off x="6431845" y="3651560"/>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An explainable model, with a person reviewing offers before they go out.</a:t>
            </a:r>
            <a:endParaRPr lang="en-US" sz="1400" dirty="0"/>
          </a:p>
        </p:txBody>
      </p:sp>
      <p:sp>
        <p:nvSpPr>
          <p:cNvPr id="15" name="Text 13"/>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6" name="Text 14"/>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0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5EF"/>
                </a:solidFill>
                <a:latin typeface="DM Sans" pitchFamily="34" charset="0"/>
                <a:ea typeface="DM Sans" pitchFamily="34" charset="-122"/>
                <a:cs typeface="DM Sans" pitchFamily="34" charset="-120"/>
              </a:rPr>
              <a:t>Summary, limitations and next steps</a:t>
            </a:r>
            <a:endParaRPr lang="en-US" sz="3200" dirty="0"/>
          </a:p>
        </p:txBody>
      </p:sp>
      <p:sp>
        <p:nvSpPr>
          <p:cNvPr id="3" name="Text 1"/>
          <p:cNvSpPr/>
          <p:nvPr/>
        </p:nvSpPr>
        <p:spPr>
          <a:xfrm>
            <a:off x="812800" y="1564611"/>
            <a:ext cx="3418501"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WHAT WE BUILT</a:t>
            </a:r>
            <a:endParaRPr lang="en-US" sz="1300" dirty="0"/>
          </a:p>
        </p:txBody>
      </p:sp>
      <p:sp>
        <p:nvSpPr>
          <p:cNvPr id="4" name="Text 2"/>
          <p:cNvSpPr/>
          <p:nvPr/>
        </p:nvSpPr>
        <p:spPr>
          <a:xfrm>
            <a:off x="812800" y="1922729"/>
            <a:ext cx="3418501" cy="84825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One governed pipeline from SQL source to gold tables, with history kept.</a:t>
            </a:r>
            <a:endParaRPr lang="en-US" sz="1600" dirty="0"/>
          </a:p>
        </p:txBody>
      </p:sp>
      <p:sp>
        <p:nvSpPr>
          <p:cNvPr id="5" name="Text 3"/>
          <p:cNvSpPr/>
          <p:nvPr/>
        </p:nvSpPr>
        <p:spPr>
          <a:xfrm>
            <a:off x="812800" y="2872581"/>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A churn model and executive charts that answer the objective.</a:t>
            </a:r>
            <a:endParaRPr lang="en-US" sz="1600" dirty="0"/>
          </a:p>
        </p:txBody>
      </p:sp>
      <p:sp>
        <p:nvSpPr>
          <p:cNvPr id="6" name="Text 4"/>
          <p:cNvSpPr/>
          <p:nvPr/>
        </p:nvSpPr>
        <p:spPr>
          <a:xfrm>
            <a:off x="4436533" y="1564611"/>
            <a:ext cx="3418501"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LIMITATIONS</a:t>
            </a:r>
            <a:endParaRPr lang="en-US" sz="1300" dirty="0"/>
          </a:p>
        </p:txBody>
      </p:sp>
      <p:sp>
        <p:nvSpPr>
          <p:cNvPr id="7" name="Text 5"/>
          <p:cNvSpPr/>
          <p:nvPr/>
        </p:nvSpPr>
        <p:spPr>
          <a:xfrm>
            <a:off x="4436533" y="1922729"/>
            <a:ext cx="3623733" cy="299685"/>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Synthetic data and a small sample.</a:t>
            </a:r>
            <a:endParaRPr lang="en-US" sz="1600" dirty="0"/>
          </a:p>
        </p:txBody>
      </p:sp>
      <p:sp>
        <p:nvSpPr>
          <p:cNvPr id="8" name="Text 6"/>
          <p:cNvSpPr/>
          <p:nvPr/>
        </p:nvSpPr>
        <p:spPr>
          <a:xfrm>
            <a:off x="4436533" y="2324013"/>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Churn is inferred from inactivity, not cancellations.</a:t>
            </a:r>
            <a:endParaRPr lang="en-US" sz="1600" dirty="0"/>
          </a:p>
        </p:txBody>
      </p:sp>
      <p:sp>
        <p:nvSpPr>
          <p:cNvPr id="9" name="Text 7"/>
          <p:cNvSpPr/>
          <p:nvPr/>
        </p:nvSpPr>
        <p:spPr>
          <a:xfrm>
            <a:off x="4436533" y="2999581"/>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Batch scoring only, no real-time model.</a:t>
            </a:r>
            <a:endParaRPr lang="en-US" sz="1600" dirty="0"/>
          </a:p>
        </p:txBody>
      </p:sp>
      <p:sp>
        <p:nvSpPr>
          <p:cNvPr id="10" name="Text 8"/>
          <p:cNvSpPr/>
          <p:nvPr/>
        </p:nvSpPr>
        <p:spPr>
          <a:xfrm>
            <a:off x="8060267" y="1564611"/>
            <a:ext cx="3418501"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NEXT STEPS</a:t>
            </a:r>
            <a:endParaRPr lang="en-US" sz="1300" dirty="0"/>
          </a:p>
        </p:txBody>
      </p:sp>
      <p:sp>
        <p:nvSpPr>
          <p:cNvPr id="11" name="Text 9"/>
          <p:cNvSpPr/>
          <p:nvPr/>
        </p:nvSpPr>
        <p:spPr>
          <a:xfrm>
            <a:off x="8060267" y="1922729"/>
            <a:ext cx="3418501" cy="299685"/>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Use real cancellation dates.</a:t>
            </a:r>
            <a:endParaRPr lang="en-US" sz="1600" dirty="0"/>
          </a:p>
        </p:txBody>
      </p:sp>
      <p:sp>
        <p:nvSpPr>
          <p:cNvPr id="12" name="Text 10"/>
          <p:cNvSpPr/>
          <p:nvPr/>
        </p:nvSpPr>
        <p:spPr>
          <a:xfrm>
            <a:off x="8060267" y="2324013"/>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Add real-time scoring with streaming.</a:t>
            </a:r>
            <a:endParaRPr lang="en-US" sz="1600" dirty="0"/>
          </a:p>
        </p:txBody>
      </p:sp>
      <p:sp>
        <p:nvSpPr>
          <p:cNvPr id="13" name="Text 11"/>
          <p:cNvSpPr/>
          <p:nvPr/>
        </p:nvSpPr>
        <p:spPr>
          <a:xfrm>
            <a:off x="8060267" y="2999581"/>
            <a:ext cx="3982720" cy="299685"/>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Track whether offers reduce churn.</a:t>
            </a:r>
            <a:endParaRPr lang="en-US" sz="1600" dirty="0"/>
          </a:p>
        </p:txBody>
      </p:sp>
      <p:sp>
        <p:nvSpPr>
          <p:cNvPr id="14" name="Text 12"/>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AB"/>
                </a:solidFill>
                <a:latin typeface="DM Sans" pitchFamily="34" charset="0"/>
                <a:ea typeface="DM Sans" pitchFamily="34" charset="-122"/>
                <a:cs typeface="DM Sans" pitchFamily="34" charset="-120"/>
              </a:rPr>
              <a:t>Hypothetical case study · synthetic data</a:t>
            </a:r>
            <a:endParaRPr lang="en-US" sz="1200" dirty="0"/>
          </a:p>
        </p:txBody>
      </p:sp>
      <p:sp>
        <p:nvSpPr>
          <p:cNvPr id="15" name="Text 13"/>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AB"/>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theme/theme1.xml><?xml version="1.0" encoding="utf-8"?>
<a:theme xmlns:a="http://schemas.openxmlformats.org/drawingml/2006/main" name="Spotify Churn Analytics Presentation">
  <a:themeElements>
    <a:clrScheme name="Spotify Churn Analytics Presentation">
      <a:dk1>
        <a:srgbClr val="10201C"/>
      </a:dk1>
      <a:lt1>
        <a:srgbClr val="F4F5EF"/>
      </a:lt1>
      <a:dk2>
        <a:srgbClr val="495551"/>
      </a:dk2>
      <a:lt2>
        <a:srgbClr val="DDE0DA"/>
      </a:lt2>
      <a:accent1>
        <a:srgbClr val="2FBF8F"/>
      </a:accent1>
      <a:accent2>
        <a:srgbClr val="147055"/>
      </a:accent2>
      <a:accent3>
        <a:srgbClr val="4A3A22"/>
      </a:accent3>
      <a:accent4>
        <a:srgbClr val="4A5A55"/>
      </a:accent4>
      <a:accent5>
        <a:srgbClr val="5E6E68"/>
      </a:accent5>
      <a:accent6>
        <a:srgbClr val="C5D6CF"/>
      </a:accent6>
      <a:hlink>
        <a:srgbClr val="0563C1"/>
      </a:hlink>
      <a:folHlink>
        <a:srgbClr val="954F72"/>
      </a:folHlink>
    </a:clrScheme>
    <a:fontScheme name="Spotify Churn Analytics Presentati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1622</Words>
  <Application>Microsoft Office PowerPoint</Application>
  <PresentationFormat>Widescreen</PresentationFormat>
  <Paragraphs>159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DM Sans</vt:lpstr>
      <vt:lpstr>Spotify Churn Analytics Presentation</vt:lpstr>
      <vt:lpstr>Keeping subscribers, growing the right markets</vt:lpstr>
      <vt:lpstr>The business problem and objective</vt:lpstr>
      <vt:lpstr>Database design: a star schema</vt:lpstr>
      <vt:lpstr>Big data architecture: bronze, silver, gold</vt:lpstr>
      <vt:lpstr>Why these tools: enterprise needs</vt:lpstr>
      <vt:lpstr>Analysis: predicting who will churn</vt:lpstr>
      <vt:lpstr>Model results: little signal in the data</vt:lpstr>
      <vt:lpstr>Executive view: churn by plan and market</vt:lpstr>
      <vt:lpstr>Findings and recommendations</vt:lpstr>
      <vt:lpstr>Legal and ethical considerations</vt:lpstr>
      <vt:lpstr>Summary, limitations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Churn Analytics Presentation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Shangeeth Vanniyasingam</cp:lastModifiedBy>
  <cp:revision>4</cp:revision>
  <dcterms:created xsi:type="dcterms:W3CDTF">2026-10-23T07:17:49Z</dcterms:created>
  <dcterms:modified xsi:type="dcterms:W3CDTF">2026-10-23T14:20:33Z</dcterms:modified>
</cp:coreProperties>
</file>